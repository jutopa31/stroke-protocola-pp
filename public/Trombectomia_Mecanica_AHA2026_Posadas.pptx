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7778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F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FA0"/>
          </a:solidFill>
          <a:ln w="12700">
            <a:solidFill>
              <a:srgbClr val="1E8FA0"/>
            </a:solidFill>
            <a:prstDash val="solid"/>
          </a:ln>
        </p:spPr>
      </p:sp>
      <p:sp>
        <p:nvSpPr>
          <p:cNvPr id="3" name="Shape 1"/>
          <p:cNvSpPr/>
          <p:nvPr/>
        </p:nvSpPr>
        <p:spPr>
          <a:xfrm>
            <a:off x="411480" y="1005840"/>
            <a:ext cx="109728" cy="2743200"/>
          </a:xfrm>
          <a:prstGeom prst="rect">
            <a:avLst/>
          </a:prstGeom>
          <a:solidFill>
            <a:srgbClr val="1E8FA0"/>
          </a:solidFill>
          <a:ln w="12700">
            <a:solidFill>
              <a:srgbClr val="1E8FA0"/>
            </a:solidFill>
            <a:prstDash val="solid"/>
          </a:ln>
        </p:spPr>
      </p:sp>
      <p:sp>
        <p:nvSpPr>
          <p:cNvPr id="4" name="Text 2"/>
          <p:cNvSpPr/>
          <p:nvPr/>
        </p:nvSpPr>
        <p:spPr>
          <a:xfrm>
            <a:off x="685800" y="1005840"/>
            <a:ext cx="8046720" cy="1737360"/>
          </a:xfrm>
          <a:prstGeom prst="rect">
            <a:avLst/>
          </a:prstGeom>
          <a:noFill/>
          <a:ln/>
        </p:spPr>
        <p:txBody>
          <a:bodyPr wrap="square" lIns="0" tIns="0" rIns="0" bIns="0" rtlCol="0" anchor="t"/>
          <a:lstStyle/>
          <a:p>
            <a:pPr marL="0" indent="0">
              <a:buNone/>
            </a:pPr>
            <a:r>
              <a:rPr lang="en-US" sz="4400" b="1" dirty="0">
                <a:solidFill>
                  <a:srgbClr val="FFFFFF"/>
                </a:solidFill>
              </a:rPr>
              <a:t>Trombectomía</a:t>
            </a:r>
            <a:endParaRPr lang="en-US" sz="4400" dirty="0"/>
          </a:p>
          <a:p>
            <a:pPr marL="0" indent="0">
              <a:buNone/>
            </a:pPr>
            <a:r>
              <a:rPr lang="en-US" sz="4400" b="1" dirty="0">
                <a:solidFill>
                  <a:srgbClr val="FFFFFF"/>
                </a:solidFill>
              </a:rPr>
              <a:t>Mecánica</a:t>
            </a:r>
            <a:endParaRPr lang="en-US" sz="4400" dirty="0"/>
          </a:p>
        </p:txBody>
      </p:sp>
      <p:sp>
        <p:nvSpPr>
          <p:cNvPr id="5" name="Text 3"/>
          <p:cNvSpPr/>
          <p:nvPr/>
        </p:nvSpPr>
        <p:spPr>
          <a:xfrm>
            <a:off x="685800" y="2834640"/>
            <a:ext cx="7315200" cy="457200"/>
          </a:xfrm>
          <a:prstGeom prst="rect">
            <a:avLst/>
          </a:prstGeom>
          <a:noFill/>
          <a:ln/>
        </p:spPr>
        <p:txBody>
          <a:bodyPr wrap="square" lIns="0" tIns="0" rIns="0" bIns="0" rtlCol="0" anchor="ctr"/>
          <a:lstStyle/>
          <a:p>
            <a:pPr marL="0" indent="0">
              <a:buNone/>
            </a:pPr>
            <a:r>
              <a:rPr lang="en-US" sz="1700" i="1" dirty="0">
                <a:solidFill>
                  <a:srgbClr val="1E8FA0"/>
                </a:solidFill>
              </a:rPr>
              <a:t>AHA/ASA Stroke 2026 — Guía de Práctica Clínica</a:t>
            </a:r>
            <a:endParaRPr lang="en-US" sz="1700" dirty="0"/>
          </a:p>
        </p:txBody>
      </p:sp>
      <p:sp>
        <p:nvSpPr>
          <p:cNvPr id="6" name="Text 4"/>
          <p:cNvSpPr/>
          <p:nvPr/>
        </p:nvSpPr>
        <p:spPr>
          <a:xfrm>
            <a:off x="685800" y="3383280"/>
            <a:ext cx="7315200" cy="365760"/>
          </a:xfrm>
          <a:prstGeom prst="rect">
            <a:avLst/>
          </a:prstGeom>
          <a:noFill/>
          <a:ln/>
        </p:spPr>
        <p:txBody>
          <a:bodyPr wrap="square" lIns="0" tIns="0" rIns="0" bIns="0" rtlCol="0" anchor="ctr"/>
          <a:lstStyle/>
          <a:p>
            <a:pPr marL="0" indent="0">
              <a:buNone/>
            </a:pPr>
            <a:r>
              <a:rPr lang="en-US" sz="1300" dirty="0">
                <a:solidFill>
                  <a:srgbClr val="A0B8C8"/>
                </a:solidFill>
              </a:rPr>
              <a:t>Residencia de Neurología · Hospital Posadas</a:t>
            </a:r>
            <a:endParaRPr lang="en-US" sz="1300" dirty="0"/>
          </a:p>
        </p:txBody>
      </p:sp>
      <p:sp>
        <p:nvSpPr>
          <p:cNvPr id="7" name="Shape 5"/>
          <p:cNvSpPr/>
          <p:nvPr/>
        </p:nvSpPr>
        <p:spPr>
          <a:xfrm>
            <a:off x="0" y="4754880"/>
            <a:ext cx="9144000" cy="388620"/>
          </a:xfrm>
          <a:prstGeom prst="rect">
            <a:avLst/>
          </a:prstGeom>
          <a:solidFill>
            <a:srgbClr val="136475"/>
          </a:solidFill>
          <a:ln w="12700">
            <a:solidFill>
              <a:srgbClr val="136475"/>
            </a:solidFill>
            <a:prstDash val="solid"/>
          </a:ln>
        </p:spPr>
      </p:sp>
      <p:sp>
        <p:nvSpPr>
          <p:cNvPr id="8" name="Text 6"/>
          <p:cNvSpPr/>
          <p:nvPr/>
        </p:nvSpPr>
        <p:spPr>
          <a:xfrm>
            <a:off x="365760" y="4754880"/>
            <a:ext cx="8412480" cy="388620"/>
          </a:xfrm>
          <a:prstGeom prst="rect">
            <a:avLst/>
          </a:prstGeom>
          <a:noFill/>
          <a:ln/>
        </p:spPr>
        <p:txBody>
          <a:bodyPr wrap="square" lIns="0" tIns="0" rIns="0" bIns="0" rtlCol="0" anchor="ctr"/>
          <a:lstStyle/>
          <a:p>
            <a:pPr marL="0" indent="0">
              <a:buNone/>
            </a:pPr>
            <a:r>
              <a:rPr lang="en-US" sz="850" i="1" dirty="0">
                <a:solidFill>
                  <a:srgbClr val="B0D0DA"/>
                </a:solidFill>
              </a:rPr>
              <a:t>Prabhakaran S. et al. Stroke. 2026;57:e00–e00. DOI: 10.1161/STR.0000000000000513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FA0"/>
          </a:solidFill>
          <a:ln w="12700">
            <a:solidFill>
              <a:srgbClr val="1E8FA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800" b="1" dirty="0">
                <a:solidFill>
                  <a:srgbClr val="FFFFFF"/>
                </a:solidFill>
              </a:rPr>
              <a:t>Cambio de paradigma en trombectomía mecánica</a:t>
            </a:r>
            <a:endParaRPr lang="en-US" sz="1800" dirty="0"/>
          </a:p>
        </p:txBody>
      </p:sp>
      <p:sp>
        <p:nvSpPr>
          <p:cNvPr id="4" name="Text 2"/>
          <p:cNvSpPr/>
          <p:nvPr/>
        </p:nvSpPr>
        <p:spPr>
          <a:xfrm>
            <a:off x="365760" y="749808"/>
            <a:ext cx="8412480" cy="347472"/>
          </a:xfrm>
          <a:prstGeom prst="rect">
            <a:avLst/>
          </a:prstGeom>
          <a:noFill/>
          <a:ln/>
        </p:spPr>
        <p:txBody>
          <a:bodyPr wrap="square" lIns="0" tIns="0" rIns="0" bIns="0" rtlCol="0" anchor="ctr"/>
          <a:lstStyle/>
          <a:p>
            <a:pPr marL="0" indent="0">
              <a:buNone/>
            </a:pPr>
            <a:r>
              <a:rPr lang="en-US" sz="1200" i="1" dirty="0">
                <a:solidFill>
                  <a:srgbClr val="4A5568"/>
                </a:solidFill>
              </a:rPr>
              <a:t>De la selección por perfusión avanzada → a la selección clínico-tomográfica</a:t>
            </a:r>
            <a:endParaRPr lang="en-US" sz="1200" dirty="0"/>
          </a:p>
        </p:txBody>
      </p:sp>
      <p:sp>
        <p:nvSpPr>
          <p:cNvPr id="5" name="Shape 3"/>
          <p:cNvSpPr/>
          <p:nvPr/>
        </p:nvSpPr>
        <p:spPr>
          <a:xfrm>
            <a:off x="228600" y="1170432"/>
            <a:ext cx="2788920" cy="3547872"/>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6" name="Shape 4"/>
          <p:cNvSpPr/>
          <p:nvPr/>
        </p:nvSpPr>
        <p:spPr>
          <a:xfrm>
            <a:off x="228600" y="1170432"/>
            <a:ext cx="2788920" cy="347472"/>
          </a:xfrm>
          <a:prstGeom prst="rect">
            <a:avLst/>
          </a:prstGeom>
          <a:solidFill>
            <a:srgbClr val="1E8FA0"/>
          </a:solidFill>
          <a:ln w="12700">
            <a:solidFill>
              <a:srgbClr val="1E8FA0"/>
            </a:solidFill>
            <a:prstDash val="solid"/>
          </a:ln>
        </p:spPr>
      </p:sp>
      <p:sp>
        <p:nvSpPr>
          <p:cNvPr id="7" name="Text 5"/>
          <p:cNvSpPr/>
          <p:nvPr/>
        </p:nvSpPr>
        <p:spPr>
          <a:xfrm>
            <a:off x="301752" y="1170432"/>
            <a:ext cx="2651760" cy="347472"/>
          </a:xfrm>
          <a:prstGeom prst="rect">
            <a:avLst/>
          </a:prstGeom>
          <a:noFill/>
          <a:ln/>
        </p:spPr>
        <p:txBody>
          <a:bodyPr wrap="square" lIns="0" tIns="0" rIns="0" bIns="0" rtlCol="0" anchor="ctr"/>
          <a:lstStyle/>
          <a:p>
            <a:pPr marL="0" indent="0">
              <a:buNone/>
            </a:pPr>
            <a:r>
              <a:rPr lang="en-US" sz="1150" b="1" dirty="0">
                <a:solidFill>
                  <a:srgbClr val="FFFFFF"/>
                </a:solidFill>
              </a:rPr>
              <a:t>TC simple + ASPECTS</a:t>
            </a:r>
            <a:endParaRPr lang="en-US" sz="1150" dirty="0"/>
          </a:p>
        </p:txBody>
      </p:sp>
      <p:sp>
        <p:nvSpPr>
          <p:cNvPr id="8" name="Shape 6"/>
          <p:cNvSpPr/>
          <p:nvPr/>
        </p:nvSpPr>
        <p:spPr>
          <a:xfrm>
            <a:off x="320040" y="1609344"/>
            <a:ext cx="594360" cy="201168"/>
          </a:xfrm>
          <a:prstGeom prst="rect">
            <a:avLst/>
          </a:prstGeom>
          <a:solidFill>
            <a:srgbClr val="E74C3C"/>
          </a:solidFill>
          <a:ln w="12700">
            <a:solidFill>
              <a:srgbClr val="E74C3C"/>
            </a:solidFill>
            <a:prstDash val="solid"/>
          </a:ln>
        </p:spPr>
      </p:sp>
      <p:sp>
        <p:nvSpPr>
          <p:cNvPr id="9" name="Text 7"/>
          <p:cNvSpPr/>
          <p:nvPr/>
        </p:nvSpPr>
        <p:spPr>
          <a:xfrm>
            <a:off x="320040" y="1609344"/>
            <a:ext cx="594360" cy="201168"/>
          </a:xfrm>
          <a:prstGeom prst="rect">
            <a:avLst/>
          </a:prstGeom>
          <a:noFill/>
          <a:ln/>
        </p:spPr>
        <p:txBody>
          <a:bodyPr wrap="square" lIns="0" tIns="0" rIns="0" bIns="0" rtlCol="0" anchor="ctr"/>
          <a:lstStyle/>
          <a:p>
            <a:pPr marL="0" indent="0" algn="ctr">
              <a:buNone/>
            </a:pPr>
            <a:r>
              <a:rPr lang="en-US" sz="700" b="1" dirty="0">
                <a:solidFill>
                  <a:srgbClr val="FFFFFF"/>
                </a:solidFill>
              </a:rPr>
              <a:t>ANTES</a:t>
            </a:r>
            <a:endParaRPr lang="en-US" sz="700" dirty="0"/>
          </a:p>
        </p:txBody>
      </p:sp>
      <p:sp>
        <p:nvSpPr>
          <p:cNvPr id="10" name="Text 8"/>
          <p:cNvSpPr/>
          <p:nvPr/>
        </p:nvSpPr>
        <p:spPr>
          <a:xfrm>
            <a:off x="320040" y="1847088"/>
            <a:ext cx="2606040" cy="914400"/>
          </a:xfrm>
          <a:prstGeom prst="rect">
            <a:avLst/>
          </a:prstGeom>
          <a:noFill/>
          <a:ln/>
        </p:spPr>
        <p:txBody>
          <a:bodyPr wrap="square" lIns="0" tIns="0" rIns="0" bIns="0" rtlCol="0" anchor="t"/>
          <a:lstStyle/>
          <a:p>
            <a:pPr marL="0" indent="0">
              <a:buNone/>
            </a:pPr>
            <a:r>
              <a:rPr lang="en-US" sz="1000" dirty="0">
                <a:solidFill>
                  <a:srgbClr val="1C2833"/>
                </a:solidFill>
              </a:rPr>
              <a:t>Perfusión avanzada (CTP/MRI) obligatoria en ventana extendida</a:t>
            </a:r>
            <a:endParaRPr lang="en-US" sz="1000" dirty="0"/>
          </a:p>
        </p:txBody>
      </p:sp>
      <p:sp>
        <p:nvSpPr>
          <p:cNvPr id="11" name="Shape 9"/>
          <p:cNvSpPr/>
          <p:nvPr/>
        </p:nvSpPr>
        <p:spPr>
          <a:xfrm>
            <a:off x="320040" y="2834640"/>
            <a:ext cx="594360" cy="201168"/>
          </a:xfrm>
          <a:prstGeom prst="rect">
            <a:avLst/>
          </a:prstGeom>
          <a:solidFill>
            <a:srgbClr val="1A9464"/>
          </a:solidFill>
          <a:ln w="12700">
            <a:solidFill>
              <a:srgbClr val="1A9464"/>
            </a:solidFill>
            <a:prstDash val="solid"/>
          </a:ln>
        </p:spPr>
      </p:sp>
      <p:sp>
        <p:nvSpPr>
          <p:cNvPr id="12" name="Text 10"/>
          <p:cNvSpPr/>
          <p:nvPr/>
        </p:nvSpPr>
        <p:spPr>
          <a:xfrm>
            <a:off x="320040" y="2834640"/>
            <a:ext cx="594360" cy="201168"/>
          </a:xfrm>
          <a:prstGeom prst="rect">
            <a:avLst/>
          </a:prstGeom>
          <a:noFill/>
          <a:ln/>
        </p:spPr>
        <p:txBody>
          <a:bodyPr wrap="square" lIns="0" tIns="0" rIns="0" bIns="0" rtlCol="0" anchor="ctr"/>
          <a:lstStyle/>
          <a:p>
            <a:pPr marL="0" indent="0" algn="ctr">
              <a:buNone/>
            </a:pPr>
            <a:r>
              <a:rPr lang="en-US" sz="700" b="1" dirty="0">
                <a:solidFill>
                  <a:srgbClr val="FFFFFF"/>
                </a:solidFill>
              </a:rPr>
              <a:t>AHORA</a:t>
            </a:r>
            <a:endParaRPr lang="en-US" sz="700" dirty="0"/>
          </a:p>
        </p:txBody>
      </p:sp>
      <p:sp>
        <p:nvSpPr>
          <p:cNvPr id="13" name="Text 11"/>
          <p:cNvSpPr/>
          <p:nvPr/>
        </p:nvSpPr>
        <p:spPr>
          <a:xfrm>
            <a:off x="320040" y="3072384"/>
            <a:ext cx="2606040" cy="1463040"/>
          </a:xfrm>
          <a:prstGeom prst="rect">
            <a:avLst/>
          </a:prstGeom>
          <a:noFill/>
          <a:ln/>
        </p:spPr>
        <p:txBody>
          <a:bodyPr wrap="square" lIns="0" tIns="0" rIns="0" bIns="0" rtlCol="0" anchor="t"/>
          <a:lstStyle/>
          <a:p>
            <a:pPr marL="0" indent="0">
              <a:buNone/>
            </a:pPr>
            <a:r>
              <a:rPr lang="en-US" sz="1000" dirty="0">
                <a:solidFill>
                  <a:srgbClr val="1C2833"/>
                </a:solidFill>
              </a:rPr>
              <a:t>ASPECTS como criterio principal; perfusión ya no es mandatoria</a:t>
            </a:r>
            <a:endParaRPr lang="en-US" sz="1000" dirty="0"/>
          </a:p>
        </p:txBody>
      </p:sp>
      <p:sp>
        <p:nvSpPr>
          <p:cNvPr id="14" name="Shape 12"/>
          <p:cNvSpPr/>
          <p:nvPr/>
        </p:nvSpPr>
        <p:spPr>
          <a:xfrm>
            <a:off x="3154680" y="1170432"/>
            <a:ext cx="2788920" cy="3547872"/>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15" name="Shape 13"/>
          <p:cNvSpPr/>
          <p:nvPr/>
        </p:nvSpPr>
        <p:spPr>
          <a:xfrm>
            <a:off x="3154680" y="1170432"/>
            <a:ext cx="2788920" cy="347472"/>
          </a:xfrm>
          <a:prstGeom prst="rect">
            <a:avLst/>
          </a:prstGeom>
          <a:solidFill>
            <a:srgbClr val="2980B9"/>
          </a:solidFill>
          <a:ln w="12700">
            <a:solidFill>
              <a:srgbClr val="2980B9"/>
            </a:solidFill>
            <a:prstDash val="solid"/>
          </a:ln>
        </p:spPr>
      </p:sp>
      <p:sp>
        <p:nvSpPr>
          <p:cNvPr id="16" name="Text 14"/>
          <p:cNvSpPr/>
          <p:nvPr/>
        </p:nvSpPr>
        <p:spPr>
          <a:xfrm>
            <a:off x="3227832" y="1170432"/>
            <a:ext cx="2651760" cy="347472"/>
          </a:xfrm>
          <a:prstGeom prst="rect">
            <a:avLst/>
          </a:prstGeom>
          <a:noFill/>
          <a:ln/>
        </p:spPr>
        <p:txBody>
          <a:bodyPr wrap="square" lIns="0" tIns="0" rIns="0" bIns="0" rtlCol="0" anchor="ctr"/>
          <a:lstStyle/>
          <a:p>
            <a:pPr marL="0" indent="0">
              <a:buNone/>
            </a:pPr>
            <a:r>
              <a:rPr lang="en-US" sz="1150" b="1" dirty="0">
                <a:solidFill>
                  <a:srgbClr val="FFFFFF"/>
                </a:solidFill>
              </a:rPr>
              <a:t>Large Core</a:t>
            </a:r>
            <a:endParaRPr lang="en-US" sz="1150" dirty="0"/>
          </a:p>
        </p:txBody>
      </p:sp>
      <p:sp>
        <p:nvSpPr>
          <p:cNvPr id="17" name="Shape 15"/>
          <p:cNvSpPr/>
          <p:nvPr/>
        </p:nvSpPr>
        <p:spPr>
          <a:xfrm>
            <a:off x="3246120" y="1609344"/>
            <a:ext cx="594360" cy="201168"/>
          </a:xfrm>
          <a:prstGeom prst="rect">
            <a:avLst/>
          </a:prstGeom>
          <a:solidFill>
            <a:srgbClr val="E74C3C"/>
          </a:solidFill>
          <a:ln w="12700">
            <a:solidFill>
              <a:srgbClr val="E74C3C"/>
            </a:solidFill>
            <a:prstDash val="solid"/>
          </a:ln>
        </p:spPr>
      </p:sp>
      <p:sp>
        <p:nvSpPr>
          <p:cNvPr id="18" name="Text 16"/>
          <p:cNvSpPr/>
          <p:nvPr/>
        </p:nvSpPr>
        <p:spPr>
          <a:xfrm>
            <a:off x="3246120" y="1609344"/>
            <a:ext cx="594360" cy="201168"/>
          </a:xfrm>
          <a:prstGeom prst="rect">
            <a:avLst/>
          </a:prstGeom>
          <a:noFill/>
          <a:ln/>
        </p:spPr>
        <p:txBody>
          <a:bodyPr wrap="square" lIns="0" tIns="0" rIns="0" bIns="0" rtlCol="0" anchor="ctr"/>
          <a:lstStyle/>
          <a:p>
            <a:pPr marL="0" indent="0" algn="ctr">
              <a:buNone/>
            </a:pPr>
            <a:r>
              <a:rPr lang="en-US" sz="700" b="1" dirty="0">
                <a:solidFill>
                  <a:srgbClr val="FFFFFF"/>
                </a:solidFill>
              </a:rPr>
              <a:t>ANTES</a:t>
            </a:r>
            <a:endParaRPr lang="en-US" sz="700" dirty="0"/>
          </a:p>
        </p:txBody>
      </p:sp>
      <p:sp>
        <p:nvSpPr>
          <p:cNvPr id="19" name="Text 17"/>
          <p:cNvSpPr/>
          <p:nvPr/>
        </p:nvSpPr>
        <p:spPr>
          <a:xfrm>
            <a:off x="3246120" y="1847088"/>
            <a:ext cx="2606040" cy="914400"/>
          </a:xfrm>
          <a:prstGeom prst="rect">
            <a:avLst/>
          </a:prstGeom>
          <a:noFill/>
          <a:ln/>
        </p:spPr>
        <p:txBody>
          <a:bodyPr wrap="square" lIns="0" tIns="0" rIns="0" bIns="0" rtlCol="0" anchor="t"/>
          <a:lstStyle/>
          <a:p>
            <a:pPr marL="0" indent="0">
              <a:buNone/>
            </a:pPr>
            <a:r>
              <a:rPr lang="en-US" sz="1000" dirty="0">
                <a:solidFill>
                  <a:srgbClr val="1C2833"/>
                </a:solidFill>
              </a:rPr>
              <a:t>Infartos extensos (ASPECTS &lt; 6) excluidos en mayor parte</a:t>
            </a:r>
            <a:endParaRPr lang="en-US" sz="1000" dirty="0"/>
          </a:p>
        </p:txBody>
      </p:sp>
      <p:sp>
        <p:nvSpPr>
          <p:cNvPr id="20" name="Shape 18"/>
          <p:cNvSpPr/>
          <p:nvPr/>
        </p:nvSpPr>
        <p:spPr>
          <a:xfrm>
            <a:off x="3246120" y="2834640"/>
            <a:ext cx="594360" cy="201168"/>
          </a:xfrm>
          <a:prstGeom prst="rect">
            <a:avLst/>
          </a:prstGeom>
          <a:solidFill>
            <a:srgbClr val="1A9464"/>
          </a:solidFill>
          <a:ln w="12700">
            <a:solidFill>
              <a:srgbClr val="1A9464"/>
            </a:solidFill>
            <a:prstDash val="solid"/>
          </a:ln>
        </p:spPr>
      </p:sp>
      <p:sp>
        <p:nvSpPr>
          <p:cNvPr id="21" name="Text 19"/>
          <p:cNvSpPr/>
          <p:nvPr/>
        </p:nvSpPr>
        <p:spPr>
          <a:xfrm>
            <a:off x="3246120" y="2834640"/>
            <a:ext cx="594360" cy="201168"/>
          </a:xfrm>
          <a:prstGeom prst="rect">
            <a:avLst/>
          </a:prstGeom>
          <a:noFill/>
          <a:ln/>
        </p:spPr>
        <p:txBody>
          <a:bodyPr wrap="square" lIns="0" tIns="0" rIns="0" bIns="0" rtlCol="0" anchor="ctr"/>
          <a:lstStyle/>
          <a:p>
            <a:pPr marL="0" indent="0" algn="ctr">
              <a:buNone/>
            </a:pPr>
            <a:r>
              <a:rPr lang="en-US" sz="700" b="1" dirty="0">
                <a:solidFill>
                  <a:srgbClr val="FFFFFF"/>
                </a:solidFill>
              </a:rPr>
              <a:t>AHORA</a:t>
            </a:r>
            <a:endParaRPr lang="en-US" sz="700" dirty="0"/>
          </a:p>
        </p:txBody>
      </p:sp>
      <p:sp>
        <p:nvSpPr>
          <p:cNvPr id="22" name="Text 20"/>
          <p:cNvSpPr/>
          <p:nvPr/>
        </p:nvSpPr>
        <p:spPr>
          <a:xfrm>
            <a:off x="3246120" y="3072384"/>
            <a:ext cx="2606040" cy="1463040"/>
          </a:xfrm>
          <a:prstGeom prst="rect">
            <a:avLst/>
          </a:prstGeom>
          <a:noFill/>
          <a:ln/>
        </p:spPr>
        <p:txBody>
          <a:bodyPr wrap="square" lIns="0" tIns="0" rIns="0" bIns="0" rtlCol="0" anchor="t"/>
          <a:lstStyle/>
          <a:p>
            <a:pPr marL="0" indent="0">
              <a:buNone/>
            </a:pPr>
            <a:r>
              <a:rPr lang="en-US" sz="1000" dirty="0">
                <a:solidFill>
                  <a:srgbClr val="1C2833"/>
                </a:solidFill>
              </a:rPr>
              <a:t>ASPECTS 3–5 → COR 1/A</a:t>
            </a:r>
            <a:endParaRPr lang="en-US" sz="1000" dirty="0"/>
          </a:p>
          <a:p>
            <a:pPr marL="0" indent="0">
              <a:buNone/>
            </a:pPr>
            <a:r>
              <a:rPr lang="en-US" sz="1000" dirty="0">
                <a:solidFill>
                  <a:srgbClr val="1C2833"/>
                </a:solidFill>
              </a:rPr>
              <a:t>ASPECTS 0–2 → COR 2a (seleccionados)</a:t>
            </a:r>
            <a:endParaRPr lang="en-US" sz="1000" dirty="0"/>
          </a:p>
        </p:txBody>
      </p:sp>
      <p:sp>
        <p:nvSpPr>
          <p:cNvPr id="23" name="Shape 21"/>
          <p:cNvSpPr/>
          <p:nvPr/>
        </p:nvSpPr>
        <p:spPr>
          <a:xfrm>
            <a:off x="6080760" y="1170432"/>
            <a:ext cx="2788920" cy="3547872"/>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24" name="Shape 22"/>
          <p:cNvSpPr/>
          <p:nvPr/>
        </p:nvSpPr>
        <p:spPr>
          <a:xfrm>
            <a:off x="6080760" y="1170432"/>
            <a:ext cx="2788920" cy="347472"/>
          </a:xfrm>
          <a:prstGeom prst="rect">
            <a:avLst/>
          </a:prstGeom>
          <a:solidFill>
            <a:srgbClr val="E67E22"/>
          </a:solidFill>
          <a:ln w="12700">
            <a:solidFill>
              <a:srgbClr val="E67E22"/>
            </a:solidFill>
            <a:prstDash val="solid"/>
          </a:ln>
        </p:spPr>
      </p:sp>
      <p:sp>
        <p:nvSpPr>
          <p:cNvPr id="25" name="Text 23"/>
          <p:cNvSpPr/>
          <p:nvPr/>
        </p:nvSpPr>
        <p:spPr>
          <a:xfrm>
            <a:off x="6153912" y="1170432"/>
            <a:ext cx="2651760" cy="347472"/>
          </a:xfrm>
          <a:prstGeom prst="rect">
            <a:avLst/>
          </a:prstGeom>
          <a:noFill/>
          <a:ln/>
        </p:spPr>
        <p:txBody>
          <a:bodyPr wrap="square" lIns="0" tIns="0" rIns="0" bIns="0" rtlCol="0" anchor="ctr"/>
          <a:lstStyle/>
          <a:p>
            <a:pPr marL="0" indent="0">
              <a:buNone/>
            </a:pPr>
            <a:r>
              <a:rPr lang="en-US" sz="1150" b="1" dirty="0">
                <a:solidFill>
                  <a:srgbClr val="FFFFFF"/>
                </a:solidFill>
              </a:rPr>
              <a:t>Discapacidad previa</a:t>
            </a:r>
            <a:endParaRPr lang="en-US" sz="1150" dirty="0"/>
          </a:p>
        </p:txBody>
      </p:sp>
      <p:sp>
        <p:nvSpPr>
          <p:cNvPr id="26" name="Shape 24"/>
          <p:cNvSpPr/>
          <p:nvPr/>
        </p:nvSpPr>
        <p:spPr>
          <a:xfrm>
            <a:off x="6172200" y="1609344"/>
            <a:ext cx="594360" cy="201168"/>
          </a:xfrm>
          <a:prstGeom prst="rect">
            <a:avLst/>
          </a:prstGeom>
          <a:solidFill>
            <a:srgbClr val="E74C3C"/>
          </a:solidFill>
          <a:ln w="12700">
            <a:solidFill>
              <a:srgbClr val="E74C3C"/>
            </a:solidFill>
            <a:prstDash val="solid"/>
          </a:ln>
        </p:spPr>
      </p:sp>
      <p:sp>
        <p:nvSpPr>
          <p:cNvPr id="27" name="Text 25"/>
          <p:cNvSpPr/>
          <p:nvPr/>
        </p:nvSpPr>
        <p:spPr>
          <a:xfrm>
            <a:off x="6172200" y="1609344"/>
            <a:ext cx="594360" cy="201168"/>
          </a:xfrm>
          <a:prstGeom prst="rect">
            <a:avLst/>
          </a:prstGeom>
          <a:noFill/>
          <a:ln/>
        </p:spPr>
        <p:txBody>
          <a:bodyPr wrap="square" lIns="0" tIns="0" rIns="0" bIns="0" rtlCol="0" anchor="ctr"/>
          <a:lstStyle/>
          <a:p>
            <a:pPr marL="0" indent="0" algn="ctr">
              <a:buNone/>
            </a:pPr>
            <a:r>
              <a:rPr lang="en-US" sz="700" b="1" dirty="0">
                <a:solidFill>
                  <a:srgbClr val="FFFFFF"/>
                </a:solidFill>
              </a:rPr>
              <a:t>ANTES</a:t>
            </a:r>
            <a:endParaRPr lang="en-US" sz="700" dirty="0"/>
          </a:p>
        </p:txBody>
      </p:sp>
      <p:sp>
        <p:nvSpPr>
          <p:cNvPr id="28" name="Text 26"/>
          <p:cNvSpPr/>
          <p:nvPr/>
        </p:nvSpPr>
        <p:spPr>
          <a:xfrm>
            <a:off x="6172200" y="1847088"/>
            <a:ext cx="2606040" cy="914400"/>
          </a:xfrm>
          <a:prstGeom prst="rect">
            <a:avLst/>
          </a:prstGeom>
          <a:noFill/>
          <a:ln/>
        </p:spPr>
        <p:txBody>
          <a:bodyPr wrap="square" lIns="0" tIns="0" rIns="0" bIns="0" rtlCol="0" anchor="t"/>
          <a:lstStyle/>
          <a:p>
            <a:pPr marL="0" indent="0">
              <a:buNone/>
            </a:pPr>
            <a:r>
              <a:rPr lang="en-US" sz="1000" dirty="0">
                <a:solidFill>
                  <a:srgbClr val="1C2833"/>
                </a:solidFill>
              </a:rPr>
              <a:t>mRS ≥2 frenaba la indicación</a:t>
            </a:r>
            <a:endParaRPr lang="en-US" sz="1000" dirty="0"/>
          </a:p>
        </p:txBody>
      </p:sp>
      <p:sp>
        <p:nvSpPr>
          <p:cNvPr id="29" name="Shape 27"/>
          <p:cNvSpPr/>
          <p:nvPr/>
        </p:nvSpPr>
        <p:spPr>
          <a:xfrm>
            <a:off x="6172200" y="2834640"/>
            <a:ext cx="594360" cy="201168"/>
          </a:xfrm>
          <a:prstGeom prst="rect">
            <a:avLst/>
          </a:prstGeom>
          <a:solidFill>
            <a:srgbClr val="1A9464"/>
          </a:solidFill>
          <a:ln w="12700">
            <a:solidFill>
              <a:srgbClr val="1A9464"/>
            </a:solidFill>
            <a:prstDash val="solid"/>
          </a:ln>
        </p:spPr>
      </p:sp>
      <p:sp>
        <p:nvSpPr>
          <p:cNvPr id="30" name="Text 28"/>
          <p:cNvSpPr/>
          <p:nvPr/>
        </p:nvSpPr>
        <p:spPr>
          <a:xfrm>
            <a:off x="6172200" y="2834640"/>
            <a:ext cx="594360" cy="201168"/>
          </a:xfrm>
          <a:prstGeom prst="rect">
            <a:avLst/>
          </a:prstGeom>
          <a:noFill/>
          <a:ln/>
        </p:spPr>
        <p:txBody>
          <a:bodyPr wrap="square" lIns="0" tIns="0" rIns="0" bIns="0" rtlCol="0" anchor="ctr"/>
          <a:lstStyle/>
          <a:p>
            <a:pPr marL="0" indent="0" algn="ctr">
              <a:buNone/>
            </a:pPr>
            <a:r>
              <a:rPr lang="en-US" sz="700" b="1" dirty="0">
                <a:solidFill>
                  <a:srgbClr val="FFFFFF"/>
                </a:solidFill>
              </a:rPr>
              <a:t>AHORA</a:t>
            </a:r>
            <a:endParaRPr lang="en-US" sz="700" dirty="0"/>
          </a:p>
        </p:txBody>
      </p:sp>
      <p:sp>
        <p:nvSpPr>
          <p:cNvPr id="31" name="Text 29"/>
          <p:cNvSpPr/>
          <p:nvPr/>
        </p:nvSpPr>
        <p:spPr>
          <a:xfrm>
            <a:off x="6172200" y="3072384"/>
            <a:ext cx="2606040" cy="1463040"/>
          </a:xfrm>
          <a:prstGeom prst="rect">
            <a:avLst/>
          </a:prstGeom>
          <a:noFill/>
          <a:ln/>
        </p:spPr>
        <p:txBody>
          <a:bodyPr wrap="square" lIns="0" tIns="0" rIns="0" bIns="0" rtlCol="0" anchor="t"/>
          <a:lstStyle/>
          <a:p>
            <a:pPr marL="0" indent="0">
              <a:buNone/>
            </a:pPr>
            <a:r>
              <a:rPr lang="en-US" sz="1000" dirty="0">
                <a:solidFill>
                  <a:srgbClr val="1C2833"/>
                </a:solidFill>
              </a:rPr>
              <a:t>mRS 2 → COR 2a</a:t>
            </a:r>
            <a:endParaRPr lang="en-US" sz="1000" dirty="0"/>
          </a:p>
          <a:p>
            <a:pPr marL="0" indent="0">
              <a:buNone/>
            </a:pPr>
            <a:r>
              <a:rPr lang="en-US" sz="1000" dirty="0">
                <a:solidFill>
                  <a:srgbClr val="1C2833"/>
                </a:solidFill>
              </a:rPr>
              <a:t>mRS 3–4 → COR 2b</a:t>
            </a:r>
            <a:endParaRPr lang="en-US" sz="1000" dirty="0"/>
          </a:p>
          <a:p>
            <a:pPr marL="0" indent="0">
              <a:buNone/>
            </a:pPr>
            <a:r>
              <a:rPr lang="en-US" sz="1000" dirty="0">
                <a:solidFill>
                  <a:srgbClr val="1C2833"/>
                </a:solidFill>
              </a:rPr>
              <a:t>Objetivo: reducir discapacidad acumulada</a:t>
            </a:r>
            <a:endParaRPr lang="en-US" sz="1000" dirty="0"/>
          </a:p>
        </p:txBody>
      </p:sp>
      <p:sp>
        <p:nvSpPr>
          <p:cNvPr id="32" name="Shape 30"/>
          <p:cNvSpPr/>
          <p:nvPr/>
        </p:nvSpPr>
        <p:spPr>
          <a:xfrm>
            <a:off x="228600" y="4572000"/>
            <a:ext cx="8686800" cy="246888"/>
          </a:xfrm>
          <a:prstGeom prst="rect">
            <a:avLst/>
          </a:prstGeom>
          <a:solidFill>
            <a:srgbClr val="E5F6F9"/>
          </a:solidFill>
          <a:ln w="12700">
            <a:solidFill>
              <a:srgbClr val="C5DCE3"/>
            </a:solidFill>
            <a:prstDash val="solid"/>
          </a:ln>
        </p:spPr>
      </p:sp>
      <p:sp>
        <p:nvSpPr>
          <p:cNvPr id="33" name="Text 31"/>
          <p:cNvSpPr/>
          <p:nvPr/>
        </p:nvSpPr>
        <p:spPr>
          <a:xfrm>
            <a:off x="320040" y="4572000"/>
            <a:ext cx="8412480" cy="246888"/>
          </a:xfrm>
          <a:prstGeom prst="rect">
            <a:avLst/>
          </a:prstGeom>
          <a:noFill/>
          <a:ln/>
        </p:spPr>
        <p:txBody>
          <a:bodyPr wrap="square" lIns="0" tIns="0" rIns="0" bIns="0" rtlCol="0" anchor="ctr"/>
          <a:lstStyle/>
          <a:p>
            <a:pPr marL="0" indent="0">
              <a:buNone/>
            </a:pPr>
            <a:r>
              <a:rPr lang="en-US" sz="900" dirty="0">
                <a:solidFill>
                  <a:srgbClr val="136475"/>
                </a:solidFill>
              </a:rPr>
              <a:t>➕  Basilar: evidencia sube de 2a/C-LD → COR 1/A  |  MIVO M2 no dominante / distal: COR 3 No Benefit (cierra el debate)</a:t>
            </a:r>
            <a:endParaRPr lang="en-US" sz="900" dirty="0"/>
          </a:p>
        </p:txBody>
      </p:sp>
      <p:sp>
        <p:nvSpPr>
          <p:cNvPr id="34" name="Shape 32"/>
          <p:cNvSpPr/>
          <p:nvPr/>
        </p:nvSpPr>
        <p:spPr>
          <a:xfrm>
            <a:off x="0" y="4892040"/>
            <a:ext cx="9144000" cy="251460"/>
          </a:xfrm>
          <a:prstGeom prst="rect">
            <a:avLst/>
          </a:prstGeom>
          <a:solidFill>
            <a:srgbClr val="136475"/>
          </a:solidFill>
          <a:ln w="12700">
            <a:solidFill>
              <a:srgbClr val="136475"/>
            </a:solidFill>
            <a:prstDash val="solid"/>
          </a:ln>
        </p:spPr>
      </p:sp>
      <p:sp>
        <p:nvSpPr>
          <p:cNvPr id="35" name="Text 33"/>
          <p:cNvSpPr/>
          <p:nvPr/>
        </p:nvSpPr>
        <p:spPr>
          <a:xfrm>
            <a:off x="274320" y="4892040"/>
            <a:ext cx="5486400" cy="251460"/>
          </a:xfrm>
          <a:prstGeom prst="rect">
            <a:avLst/>
          </a:prstGeom>
          <a:noFill/>
          <a:ln/>
        </p:spPr>
        <p:txBody>
          <a:bodyPr wrap="square" lIns="0" tIns="0" rIns="0" bIns="0" rtlCol="0" anchor="ctr"/>
          <a:lstStyle/>
          <a:p>
            <a:pPr marL="0" indent="0">
              <a:buNone/>
            </a:pPr>
            <a:r>
              <a:rPr lang="en-US" sz="800" i="1" dirty="0">
                <a:solidFill>
                  <a:srgbClr val="FFFFFF"/>
                </a:solidFill>
              </a:rPr>
              <a:t>Guía AHA Stroke 2026</a:t>
            </a:r>
            <a:endParaRPr lang="en-US" sz="800" dirty="0"/>
          </a:p>
        </p:txBody>
      </p:sp>
      <p:sp>
        <p:nvSpPr>
          <p:cNvPr id="36" name="Text 34"/>
          <p:cNvSpPr/>
          <p:nvPr/>
        </p:nvSpPr>
        <p:spPr>
          <a:xfrm>
            <a:off x="6858000" y="4892040"/>
            <a:ext cx="2011680" cy="251460"/>
          </a:xfrm>
          <a:prstGeom prst="rect">
            <a:avLst/>
          </a:prstGeom>
          <a:noFill/>
          <a:ln/>
        </p:spPr>
        <p:txBody>
          <a:bodyPr wrap="square" lIns="0" tIns="0" rIns="0" bIns="0" rtlCol="0" anchor="ctr"/>
          <a:lstStyle/>
          <a:p>
            <a:pPr marL="0" indent="0" algn="r">
              <a:buNone/>
            </a:pPr>
            <a:r>
              <a:rPr lang="en-US" sz="800" b="1" dirty="0">
                <a:solidFill>
                  <a:srgbClr val="FFFFFF"/>
                </a:solidFill>
              </a:rPr>
              <a:t>Hospital Posadas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FA0"/>
          </a:solidFill>
          <a:ln w="12700">
            <a:solidFill>
              <a:srgbClr val="1E8FA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800" b="1" dirty="0">
                <a:solidFill>
                  <a:srgbClr val="FFFFFF"/>
                </a:solidFill>
              </a:rPr>
              <a:t>4.7.2 Recomendaciones — Trombectomía en paciente adulto (resumen)</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749808"/>
          <a:ext cx="8686800" cy="3730752"/>
        </p:xfrm>
        <a:graphic>
          <a:graphicData uri="http://schemas.openxmlformats.org/drawingml/2006/table">
            <a:tbl>
              <a:tblPr/>
              <a:tblGrid>
                <a:gridCol w="566928">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7434072">
                  <a:extLst>
                    <a:ext uri="{9D8B030D-6E8A-4147-A177-3AD203B41FA5}">
                      <a16:colId xmlns:a16="http://schemas.microsoft.com/office/drawing/2014/main" val="20002"/>
                    </a:ext>
                  </a:extLst>
                </a:gridCol>
              </a:tblGrid>
              <a:tr h="347472">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COR</a:t>
                      </a:r>
                      <a:endParaRPr lang="en-US" sz="10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1364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LOE</a:t>
                      </a:r>
                      <a:endParaRPr lang="en-US" sz="10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136475"/>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Escenario clínico</a:t>
                      </a:r>
                      <a:endParaRPr lang="en-US" sz="10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136475"/>
                    </a:solidFill>
                  </a:tcPr>
                </a:tc>
                <a:extLst>
                  <a:ext uri="{0D108BD9-81ED-4DB2-BD59-A6C34878D82A}">
                    <a16:rowId xmlns:a16="http://schemas.microsoft.com/office/drawing/2014/main" val="10000"/>
                  </a:ext>
                </a:extLst>
              </a:tr>
              <a:tr h="4114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1A946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2C3E50"/>
                    </a:solidFill>
                  </a:tcPr>
                </a:tc>
                <a:tc>
                  <a:txBody>
                    <a:bodyPr/>
                    <a:lstStyle/>
                    <a:p>
                      <a:pPr marL="0" indent="0" algn="l">
                        <a:buNone/>
                      </a:pPr>
                      <a:r>
                        <a:rPr lang="en-US" sz="950" dirty="0">
                          <a:solidFill>
                            <a:srgbClr val="1C2833"/>
                          </a:solidFill>
                          <a:latin typeface="Calibri" pitchFamily="34" charset="0"/>
                          <a:ea typeface="Calibri" pitchFamily="34" charset="-122"/>
                          <a:cs typeface="Calibri" pitchFamily="34" charset="-120"/>
                        </a:rPr>
                        <a:t>0–6 h, ACI/M1, NIHSS ≥6, mRS 0–1, ASPECTS 3–10</a:t>
                      </a:r>
                      <a:endParaRPr lang="en-US" sz="9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1A946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2C3E50"/>
                    </a:solidFill>
                  </a:tcPr>
                </a:tc>
                <a:tc>
                  <a:txBody>
                    <a:bodyPr/>
                    <a:lstStyle/>
                    <a:p>
                      <a:pPr marL="0" indent="0" algn="l">
                        <a:buNone/>
                      </a:pPr>
                      <a:r>
                        <a:rPr lang="en-US" sz="950" dirty="0">
                          <a:solidFill>
                            <a:srgbClr val="1C2833"/>
                          </a:solidFill>
                          <a:latin typeface="Calibri" pitchFamily="34" charset="0"/>
                          <a:ea typeface="Calibri" pitchFamily="34" charset="-122"/>
                          <a:cs typeface="Calibri" pitchFamily="34" charset="-120"/>
                        </a:rPr>
                        <a:t>6–24 h, ACI/M1, NIHSS ≥6, mRS 0–1, ASPECTS ≥6</a:t>
                      </a:r>
                      <a:endParaRPr lang="en-US" sz="9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1A946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2C3E50"/>
                    </a:solidFill>
                  </a:tcPr>
                </a:tc>
                <a:tc>
                  <a:txBody>
                    <a:bodyPr/>
                    <a:lstStyle/>
                    <a:p>
                      <a:pPr marL="0" indent="0" algn="l">
                        <a:buNone/>
                      </a:pPr>
                      <a:r>
                        <a:rPr lang="en-US" sz="950" b="1" dirty="0">
                          <a:solidFill>
                            <a:srgbClr val="1C2833"/>
                          </a:solidFill>
                          <a:latin typeface="Calibri" pitchFamily="34" charset="0"/>
                          <a:ea typeface="Calibri" pitchFamily="34" charset="-122"/>
                          <a:cs typeface="Calibri" pitchFamily="34" charset="-120"/>
                        </a:rPr>
                        <a:t>6–24 h, ACI/M1, &lt;80 años, NIHSS ≥6, mRS 0–1, ASPECTS 3–5, sin efecto de masa significativo ★</a:t>
                      </a:r>
                      <a:endParaRPr lang="en-US" sz="9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2a</a:t>
                      </a:r>
                      <a:endParaRPr lang="en-US" sz="11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2980B9"/>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B-R</a:t>
                      </a:r>
                      <a:endParaRPr lang="en-US" sz="10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2C3E50"/>
                    </a:solidFill>
                  </a:tcPr>
                </a:tc>
                <a:tc>
                  <a:txBody>
                    <a:bodyPr/>
                    <a:lstStyle/>
                    <a:p>
                      <a:pPr marL="0" indent="0" algn="l">
                        <a:buNone/>
                      </a:pPr>
                      <a:r>
                        <a:rPr lang="en-US" sz="950" dirty="0">
                          <a:solidFill>
                            <a:srgbClr val="1C2833"/>
                          </a:solidFill>
                          <a:latin typeface="Calibri" pitchFamily="34" charset="0"/>
                          <a:ea typeface="Calibri" pitchFamily="34" charset="-122"/>
                          <a:cs typeface="Calibri" pitchFamily="34" charset="-120"/>
                        </a:rPr>
                        <a:t>0–6 h, ACI/M1, &lt;80 años, NIHSS ≥6, mRS 0–1, ASPECTS 0–2, sin efecto de masa significativo ★</a:t>
                      </a:r>
                      <a:endParaRPr lang="en-US" sz="9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2a</a:t>
                      </a:r>
                      <a:endParaRPr lang="en-US" sz="11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2980B9"/>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B-NR</a:t>
                      </a:r>
                      <a:endParaRPr lang="en-US" sz="10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2C3E50"/>
                    </a:solidFill>
                  </a:tcPr>
                </a:tc>
                <a:tc>
                  <a:txBody>
                    <a:bodyPr/>
                    <a:lstStyle/>
                    <a:p>
                      <a:pPr marL="0" indent="0" algn="l">
                        <a:buNone/>
                      </a:pPr>
                      <a:r>
                        <a:rPr lang="en-US" sz="950" dirty="0">
                          <a:solidFill>
                            <a:srgbClr val="1C2833"/>
                          </a:solidFill>
                          <a:latin typeface="Calibri" pitchFamily="34" charset="0"/>
                          <a:ea typeface="Calibri" pitchFamily="34" charset="-122"/>
                          <a:cs typeface="Calibri" pitchFamily="34" charset="-120"/>
                        </a:rPr>
                        <a:t>0–6 h, ACI/M1, NIHSS ≥6, ASPECTS ≥6, mRS previo = 2</a:t>
                      </a:r>
                      <a:endParaRPr lang="en-US" sz="9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2b</a:t>
                      </a:r>
                      <a:endParaRPr lang="en-US" sz="11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E67E2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B-NR</a:t>
                      </a:r>
                      <a:endParaRPr lang="en-US" sz="10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2C3E50"/>
                    </a:solidFill>
                  </a:tcPr>
                </a:tc>
                <a:tc>
                  <a:txBody>
                    <a:bodyPr/>
                    <a:lstStyle/>
                    <a:p>
                      <a:pPr marL="0" indent="0" algn="l">
                        <a:buNone/>
                      </a:pPr>
                      <a:r>
                        <a:rPr lang="en-US" sz="950" dirty="0">
                          <a:solidFill>
                            <a:srgbClr val="1C2833"/>
                          </a:solidFill>
                          <a:latin typeface="Calibri" pitchFamily="34" charset="0"/>
                          <a:ea typeface="Calibri" pitchFamily="34" charset="-122"/>
                          <a:cs typeface="Calibri" pitchFamily="34" charset="-120"/>
                        </a:rPr>
                        <a:t>0–6 h, ACI/M1, NIHSS ≥6, ASPECTS ≥6, mRS previo 3–4</a:t>
                      </a:r>
                      <a:endParaRPr lang="en-US" sz="9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6"/>
                  </a:ext>
                </a:extLst>
              </a:tr>
              <a:tr h="4114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2a</a:t>
                      </a:r>
                      <a:endParaRPr lang="en-US" sz="11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2980B9"/>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B-NR</a:t>
                      </a:r>
                      <a:endParaRPr lang="en-US" sz="10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2C3E50"/>
                    </a:solidFill>
                  </a:tcPr>
                </a:tc>
                <a:tc>
                  <a:txBody>
                    <a:bodyPr/>
                    <a:lstStyle/>
                    <a:p>
                      <a:pPr marL="0" indent="0" algn="l">
                        <a:buNone/>
                      </a:pPr>
                      <a:r>
                        <a:rPr lang="en-US" sz="950" dirty="0">
                          <a:solidFill>
                            <a:srgbClr val="1C2833"/>
                          </a:solidFill>
                          <a:latin typeface="Calibri" pitchFamily="34" charset="0"/>
                          <a:ea typeface="Calibri" pitchFamily="34" charset="-122"/>
                          <a:cs typeface="Calibri" pitchFamily="34" charset="-120"/>
                        </a:rPr>
                        <a:t>M2 proximal DOMINANTE, &lt;6 h, mRS 0–1, NIHSS ≥6, ASPECTS ≥6</a:t>
                      </a:r>
                      <a:endParaRPr lang="en-US" sz="9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7"/>
                  </a:ext>
                </a:extLst>
              </a:tr>
              <a:tr h="4114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C0392B"/>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2C3E50"/>
                    </a:solidFill>
                  </a:tcPr>
                </a:tc>
                <a:tc>
                  <a:txBody>
                    <a:bodyPr/>
                    <a:lstStyle/>
                    <a:p>
                      <a:pPr marL="0" indent="0" algn="l">
                        <a:buNone/>
                      </a:pPr>
                      <a:r>
                        <a:rPr lang="en-US" sz="950" b="1" dirty="0">
                          <a:solidFill>
                            <a:srgbClr val="C0392B"/>
                          </a:solidFill>
                          <a:latin typeface="Calibri" pitchFamily="34" charset="0"/>
                          <a:ea typeface="Calibri" pitchFamily="34" charset="-122"/>
                          <a:cs typeface="Calibri" pitchFamily="34" charset="-120"/>
                        </a:rPr>
                        <a:t>M2 no dominante/codominante, MCA distal, ACA, ACP — NO recomendado</a:t>
                      </a:r>
                      <a:endParaRPr lang="en-US" sz="9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228600" y="4864608"/>
            <a:ext cx="8686800" cy="237744"/>
          </a:xfrm>
          <a:prstGeom prst="rect">
            <a:avLst/>
          </a:prstGeom>
          <a:noFill/>
          <a:ln/>
        </p:spPr>
        <p:txBody>
          <a:bodyPr wrap="square" lIns="0" tIns="0" rIns="0" bIns="0" rtlCol="0" anchor="ctr"/>
          <a:lstStyle/>
          <a:p>
            <a:pPr marL="0" indent="0">
              <a:buNone/>
            </a:pPr>
            <a:r>
              <a:rPr lang="en-US" sz="750" i="1" dirty="0">
                <a:solidFill>
                  <a:srgbClr val="718096"/>
                </a:solidFill>
              </a:rPr>
              <a:t>★ Criterios de generalización limitada: &gt;80 años, HTA refractaria (PAS ≥185 / PAD ≥110), insuficiencia renal, comorbilidad psiquiátrica o expectativa de vida &lt;3–6 meses.</a:t>
            </a:r>
            <a:endParaRPr lang="en-US" sz="750" dirty="0"/>
          </a:p>
        </p:txBody>
      </p:sp>
      <p:sp>
        <p:nvSpPr>
          <p:cNvPr id="6" name="Shape 3"/>
          <p:cNvSpPr/>
          <p:nvPr/>
        </p:nvSpPr>
        <p:spPr>
          <a:xfrm>
            <a:off x="0" y="4892040"/>
            <a:ext cx="9144000" cy="251460"/>
          </a:xfrm>
          <a:prstGeom prst="rect">
            <a:avLst/>
          </a:prstGeom>
          <a:solidFill>
            <a:srgbClr val="136475"/>
          </a:solidFill>
          <a:ln w="12700">
            <a:solidFill>
              <a:srgbClr val="136475"/>
            </a:solidFill>
            <a:prstDash val="solid"/>
          </a:ln>
        </p:spPr>
      </p:sp>
      <p:sp>
        <p:nvSpPr>
          <p:cNvPr id="7" name="Text 4"/>
          <p:cNvSpPr/>
          <p:nvPr/>
        </p:nvSpPr>
        <p:spPr>
          <a:xfrm>
            <a:off x="274320" y="4892040"/>
            <a:ext cx="5486400" cy="251460"/>
          </a:xfrm>
          <a:prstGeom prst="rect">
            <a:avLst/>
          </a:prstGeom>
          <a:noFill/>
          <a:ln/>
        </p:spPr>
        <p:txBody>
          <a:bodyPr wrap="square" lIns="0" tIns="0" rIns="0" bIns="0" rtlCol="0" anchor="ctr"/>
          <a:lstStyle/>
          <a:p>
            <a:pPr marL="0" indent="0">
              <a:buNone/>
            </a:pPr>
            <a:r>
              <a:rPr lang="en-US" sz="800" i="1" dirty="0">
                <a:solidFill>
                  <a:srgbClr val="FFFFFF"/>
                </a:solidFill>
              </a:rPr>
              <a:t>Guía AHA Stroke 2026</a:t>
            </a:r>
            <a:endParaRPr lang="en-US" sz="800" dirty="0"/>
          </a:p>
        </p:txBody>
      </p:sp>
      <p:sp>
        <p:nvSpPr>
          <p:cNvPr id="8" name="Text 5"/>
          <p:cNvSpPr/>
          <p:nvPr/>
        </p:nvSpPr>
        <p:spPr>
          <a:xfrm>
            <a:off x="6858000" y="4892040"/>
            <a:ext cx="2011680" cy="251460"/>
          </a:xfrm>
          <a:prstGeom prst="rect">
            <a:avLst/>
          </a:prstGeom>
          <a:noFill/>
          <a:ln/>
        </p:spPr>
        <p:txBody>
          <a:bodyPr wrap="square" lIns="0" tIns="0" rIns="0" bIns="0" rtlCol="0" anchor="ctr"/>
          <a:lstStyle/>
          <a:p>
            <a:pPr marL="0" indent="0" algn="r">
              <a:buNone/>
            </a:pPr>
            <a:r>
              <a:rPr lang="en-US" sz="800" b="1" dirty="0">
                <a:solidFill>
                  <a:srgbClr val="FFFFFF"/>
                </a:solidFill>
              </a:rPr>
              <a:t>Hospital Posadas</a:t>
            </a:r>
            <a:endParaRPr lang="en-US" sz="800" dirty="0"/>
          </a:p>
        </p:txBody>
      </p:sp>
      <p:pic>
        <p:nvPicPr>
          <p:cNvPr id="9" name="Picture 2">
            <a:extLst>
              <a:ext uri="{FF2B5EF4-FFF2-40B4-BE49-F238E27FC236}">
                <a16:creationId xmlns:a16="http://schemas.microsoft.com/office/drawing/2014/main" id="{F951A00A-FC08-4D37-B3CD-8A4351DB26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5888"/>
            <a:ext cx="9144000" cy="49101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FA0"/>
          </a:solidFill>
          <a:ln w="12700">
            <a:solidFill>
              <a:srgbClr val="1E8FA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800" b="1" dirty="0">
                <a:solidFill>
                  <a:srgbClr val="FFFFFF"/>
                </a:solidFill>
              </a:rPr>
              <a:t>Ventana 0–6 horas · ASPECTS 3–10 · Rec. 1</a:t>
            </a:r>
            <a:endParaRPr lang="en-US" sz="1800" dirty="0"/>
          </a:p>
        </p:txBody>
      </p:sp>
      <p:sp>
        <p:nvSpPr>
          <p:cNvPr id="4" name="Shape 2"/>
          <p:cNvSpPr/>
          <p:nvPr/>
        </p:nvSpPr>
        <p:spPr>
          <a:xfrm>
            <a:off x="274320" y="804672"/>
            <a:ext cx="502920" cy="502920"/>
          </a:xfrm>
          <a:prstGeom prst="rect">
            <a:avLst/>
          </a:prstGeom>
          <a:solidFill>
            <a:srgbClr val="1A9464"/>
          </a:solidFill>
          <a:ln w="12700">
            <a:solidFill>
              <a:srgbClr val="1A9464"/>
            </a:solidFill>
            <a:prstDash val="solid"/>
          </a:ln>
        </p:spPr>
      </p:sp>
      <p:sp>
        <p:nvSpPr>
          <p:cNvPr id="5" name="Text 3"/>
          <p:cNvSpPr/>
          <p:nvPr/>
        </p:nvSpPr>
        <p:spPr>
          <a:xfrm>
            <a:off x="274320" y="80467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Shape 4"/>
          <p:cNvSpPr/>
          <p:nvPr/>
        </p:nvSpPr>
        <p:spPr>
          <a:xfrm>
            <a:off x="274320" y="1325880"/>
            <a:ext cx="502920" cy="292608"/>
          </a:xfrm>
          <a:prstGeom prst="rect">
            <a:avLst/>
          </a:prstGeom>
          <a:solidFill>
            <a:srgbClr val="2C3E50"/>
          </a:solidFill>
          <a:ln w="12700">
            <a:solidFill>
              <a:srgbClr val="2C3E50"/>
            </a:solidFill>
            <a:prstDash val="solid"/>
          </a:ln>
        </p:spPr>
      </p:sp>
      <p:sp>
        <p:nvSpPr>
          <p:cNvPr id="7" name="Text 5"/>
          <p:cNvSpPr/>
          <p:nvPr/>
        </p:nvSpPr>
        <p:spPr>
          <a:xfrm>
            <a:off x="274320" y="1325880"/>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A</a:t>
            </a:r>
            <a:endParaRPr lang="en-US" sz="800" dirty="0"/>
          </a:p>
        </p:txBody>
      </p:sp>
      <p:sp>
        <p:nvSpPr>
          <p:cNvPr id="8" name="Shape 6"/>
          <p:cNvSpPr/>
          <p:nvPr/>
        </p:nvSpPr>
        <p:spPr>
          <a:xfrm>
            <a:off x="914400" y="804672"/>
            <a:ext cx="7955280" cy="1005840"/>
          </a:xfrm>
          <a:prstGeom prst="rect">
            <a:avLst/>
          </a:prstGeom>
          <a:solidFill>
            <a:srgbClr val="E5F6F9"/>
          </a:solidFill>
          <a:ln w="19050">
            <a:solidFill>
              <a:srgbClr val="1E8FA0"/>
            </a:solidFill>
            <a:prstDash val="solid"/>
          </a:ln>
          <a:effectLst>
            <a:outerShdw blurRad="101600" dist="25400" dir="8100000" algn="bl" rotWithShape="0">
              <a:srgbClr val="000000">
                <a:alpha val="10000"/>
              </a:srgbClr>
            </a:outerShdw>
          </a:effectLst>
        </p:spPr>
      </p:sp>
      <p:sp>
        <p:nvSpPr>
          <p:cNvPr id="9" name="Text 7"/>
          <p:cNvSpPr/>
          <p:nvPr/>
        </p:nvSpPr>
        <p:spPr>
          <a:xfrm>
            <a:off x="1005840" y="804672"/>
            <a:ext cx="7772400" cy="1005840"/>
          </a:xfrm>
          <a:prstGeom prst="rect">
            <a:avLst/>
          </a:prstGeom>
          <a:noFill/>
          <a:ln/>
        </p:spPr>
        <p:txBody>
          <a:bodyPr wrap="square" lIns="50800" tIns="101600" rIns="101600" bIns="50800" rtlCol="0" anchor="ctr"/>
          <a:lstStyle/>
          <a:p>
            <a:pPr marL="0" indent="0">
              <a:buNone/>
            </a:pPr>
            <a:r>
              <a:rPr lang="en-US" sz="1050" i="1" dirty="0">
                <a:solidFill>
                  <a:srgbClr val="1C2833"/>
                </a:solidFill>
              </a:rPr>
              <a:t>"In patients with AIS from anterior circulation proximal LVO of the ICA or M1, presenting within 6 hours from onset of symptoms, with NIHSS score ≥6, prestroke mRS score of 0 to 1, and ASPECTS 3 to 10, EVT is recommended to improve functional clinical outcomes and reduce mortality."</a:t>
            </a:r>
            <a:endParaRPr lang="en-US" sz="1050" dirty="0"/>
          </a:p>
        </p:txBody>
      </p:sp>
      <p:sp>
        <p:nvSpPr>
          <p:cNvPr id="10" name="Shape 8"/>
          <p:cNvSpPr/>
          <p:nvPr/>
        </p:nvSpPr>
        <p:spPr>
          <a:xfrm>
            <a:off x="274320" y="1920240"/>
            <a:ext cx="8595360" cy="804672"/>
          </a:xfrm>
          <a:prstGeom prst="rect">
            <a:avLst/>
          </a:prstGeom>
          <a:solidFill>
            <a:srgbClr val="FEF9E7"/>
          </a:solidFill>
          <a:ln w="19050">
            <a:solidFill>
              <a:srgbClr val="E67E22"/>
            </a:solidFill>
            <a:prstDash val="solid"/>
          </a:ln>
        </p:spPr>
      </p:sp>
      <p:sp>
        <p:nvSpPr>
          <p:cNvPr id="11" name="Text 9"/>
          <p:cNvSpPr/>
          <p:nvPr/>
        </p:nvSpPr>
        <p:spPr>
          <a:xfrm>
            <a:off x="411480" y="1938528"/>
            <a:ext cx="8321040" cy="228600"/>
          </a:xfrm>
          <a:prstGeom prst="rect">
            <a:avLst/>
          </a:prstGeom>
          <a:noFill/>
          <a:ln/>
        </p:spPr>
        <p:txBody>
          <a:bodyPr wrap="square" lIns="0" tIns="0" rIns="0" bIns="0" rtlCol="0" anchor="ctr"/>
          <a:lstStyle/>
          <a:p>
            <a:pPr marL="0" indent="0">
              <a:buNone/>
            </a:pPr>
            <a:r>
              <a:rPr lang="en-US" sz="1000" b="1" dirty="0">
                <a:solidFill>
                  <a:srgbClr val="E67E22"/>
                </a:solidFill>
              </a:rPr>
              <a:t>⚡ Concepto fisiopatológico clave (texto literal de la guía):</a:t>
            </a:r>
            <a:endParaRPr lang="en-US" sz="1000" dirty="0"/>
          </a:p>
        </p:txBody>
      </p:sp>
      <p:sp>
        <p:nvSpPr>
          <p:cNvPr id="12" name="Text 10"/>
          <p:cNvSpPr/>
          <p:nvPr/>
        </p:nvSpPr>
        <p:spPr>
          <a:xfrm>
            <a:off x="411480" y="2167128"/>
            <a:ext cx="8321040" cy="530352"/>
          </a:xfrm>
          <a:prstGeom prst="rect">
            <a:avLst/>
          </a:prstGeom>
          <a:noFill/>
          <a:ln/>
        </p:spPr>
        <p:txBody>
          <a:bodyPr wrap="square" lIns="0" tIns="0" rIns="0" bIns="0" rtlCol="0" anchor="ctr"/>
          <a:lstStyle/>
          <a:p>
            <a:pPr marL="0" indent="0">
              <a:buNone/>
            </a:pPr>
            <a:r>
              <a:rPr lang="en-US" sz="950" i="1" dirty="0">
                <a:solidFill>
                  <a:srgbClr val="1C2833"/>
                </a:solidFill>
              </a:rPr>
              <a:t>"...trials investigating 'large-core' AIS indicate that decreased density on NCCT, DWI abnormalities, or low CBF estimates should be considered predictors of cerebral infarction but are NOT synonymous with entirely irreversible tissue loss."</a:t>
            </a:r>
            <a:endParaRPr lang="en-US" sz="950" dirty="0"/>
          </a:p>
        </p:txBody>
      </p:sp>
      <p:sp>
        <p:nvSpPr>
          <p:cNvPr id="13" name="Shape 11"/>
          <p:cNvSpPr/>
          <p:nvPr/>
        </p:nvSpPr>
        <p:spPr>
          <a:xfrm>
            <a:off x="274320" y="2834640"/>
            <a:ext cx="2743200" cy="1051560"/>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14" name="Shape 12"/>
          <p:cNvSpPr/>
          <p:nvPr/>
        </p:nvSpPr>
        <p:spPr>
          <a:xfrm>
            <a:off x="274320" y="2834640"/>
            <a:ext cx="2743200" cy="73152"/>
          </a:xfrm>
          <a:prstGeom prst="rect">
            <a:avLst/>
          </a:prstGeom>
          <a:solidFill>
            <a:srgbClr val="1E8FA0"/>
          </a:solidFill>
          <a:ln w="12700">
            <a:solidFill>
              <a:srgbClr val="1E8FA0"/>
            </a:solidFill>
            <a:prstDash val="solid"/>
          </a:ln>
        </p:spPr>
      </p:sp>
      <p:sp>
        <p:nvSpPr>
          <p:cNvPr id="15" name="Text 13"/>
          <p:cNvSpPr/>
          <p:nvPr/>
        </p:nvSpPr>
        <p:spPr>
          <a:xfrm>
            <a:off x="274320" y="2907792"/>
            <a:ext cx="2743200" cy="502920"/>
          </a:xfrm>
          <a:prstGeom prst="rect">
            <a:avLst/>
          </a:prstGeom>
          <a:noFill/>
          <a:ln/>
        </p:spPr>
        <p:txBody>
          <a:bodyPr wrap="square" lIns="0" tIns="0" rIns="0" bIns="0" rtlCol="0" anchor="ctr"/>
          <a:lstStyle/>
          <a:p>
            <a:pPr marL="0" indent="0" algn="ctr">
              <a:buNone/>
            </a:pPr>
            <a:r>
              <a:rPr lang="en-US" sz="2600" b="1" dirty="0">
                <a:solidFill>
                  <a:srgbClr val="1E8FA0"/>
                </a:solidFill>
              </a:rPr>
              <a:t>19.5%</a:t>
            </a:r>
            <a:endParaRPr lang="en-US" sz="2600" dirty="0"/>
          </a:p>
        </p:txBody>
      </p:sp>
      <p:sp>
        <p:nvSpPr>
          <p:cNvPr id="16" name="Text 14"/>
          <p:cNvSpPr/>
          <p:nvPr/>
        </p:nvSpPr>
        <p:spPr>
          <a:xfrm>
            <a:off x="365760" y="3410712"/>
            <a:ext cx="2560320" cy="457200"/>
          </a:xfrm>
          <a:prstGeom prst="rect">
            <a:avLst/>
          </a:prstGeom>
          <a:noFill/>
          <a:ln/>
        </p:spPr>
        <p:txBody>
          <a:bodyPr wrap="square" lIns="0" tIns="0" rIns="0" bIns="0" rtlCol="0" anchor="ctr"/>
          <a:lstStyle/>
          <a:p>
            <a:pPr marL="0" indent="0" algn="ctr">
              <a:buNone/>
            </a:pPr>
            <a:r>
              <a:rPr lang="en-US" sz="850" dirty="0">
                <a:solidFill>
                  <a:srgbClr val="4A5568"/>
                </a:solidFill>
              </a:rPr>
              <a:t>Independencia funcional con EVT (large core)</a:t>
            </a:r>
            <a:endParaRPr lang="en-US" sz="850" dirty="0"/>
          </a:p>
        </p:txBody>
      </p:sp>
      <p:sp>
        <p:nvSpPr>
          <p:cNvPr id="17" name="Shape 15"/>
          <p:cNvSpPr/>
          <p:nvPr/>
        </p:nvSpPr>
        <p:spPr>
          <a:xfrm>
            <a:off x="3154680" y="2834640"/>
            <a:ext cx="2743200" cy="1051560"/>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18" name="Shape 16"/>
          <p:cNvSpPr/>
          <p:nvPr/>
        </p:nvSpPr>
        <p:spPr>
          <a:xfrm>
            <a:off x="3154680" y="2834640"/>
            <a:ext cx="2743200" cy="73152"/>
          </a:xfrm>
          <a:prstGeom prst="rect">
            <a:avLst/>
          </a:prstGeom>
          <a:solidFill>
            <a:srgbClr val="1E8FA0"/>
          </a:solidFill>
          <a:ln w="12700">
            <a:solidFill>
              <a:srgbClr val="1E8FA0"/>
            </a:solidFill>
            <a:prstDash val="solid"/>
          </a:ln>
        </p:spPr>
      </p:sp>
      <p:sp>
        <p:nvSpPr>
          <p:cNvPr id="19" name="Text 17"/>
          <p:cNvSpPr/>
          <p:nvPr/>
        </p:nvSpPr>
        <p:spPr>
          <a:xfrm>
            <a:off x="3154680" y="2907792"/>
            <a:ext cx="2743200" cy="502920"/>
          </a:xfrm>
          <a:prstGeom prst="rect">
            <a:avLst/>
          </a:prstGeom>
          <a:noFill/>
          <a:ln/>
        </p:spPr>
        <p:txBody>
          <a:bodyPr wrap="square" lIns="0" tIns="0" rIns="0" bIns="0" rtlCol="0" anchor="ctr"/>
          <a:lstStyle/>
          <a:p>
            <a:pPr marL="0" indent="0" algn="ctr">
              <a:buNone/>
            </a:pPr>
            <a:r>
              <a:rPr lang="en-US" sz="2600" b="1" dirty="0">
                <a:solidFill>
                  <a:srgbClr val="1E8FA0"/>
                </a:solidFill>
              </a:rPr>
              <a:t>7.5%</a:t>
            </a:r>
            <a:endParaRPr lang="en-US" sz="2600" dirty="0"/>
          </a:p>
        </p:txBody>
      </p:sp>
      <p:sp>
        <p:nvSpPr>
          <p:cNvPr id="20" name="Text 18"/>
          <p:cNvSpPr/>
          <p:nvPr/>
        </p:nvSpPr>
        <p:spPr>
          <a:xfrm>
            <a:off x="3246120" y="3410712"/>
            <a:ext cx="2560320" cy="457200"/>
          </a:xfrm>
          <a:prstGeom prst="rect">
            <a:avLst/>
          </a:prstGeom>
          <a:noFill/>
          <a:ln/>
        </p:spPr>
        <p:txBody>
          <a:bodyPr wrap="square" lIns="0" tIns="0" rIns="0" bIns="0" rtlCol="0" anchor="ctr"/>
          <a:lstStyle/>
          <a:p>
            <a:pPr marL="0" indent="0" algn="ctr">
              <a:buNone/>
            </a:pPr>
            <a:r>
              <a:rPr lang="en-US" sz="850" dirty="0">
                <a:solidFill>
                  <a:srgbClr val="4A5568"/>
                </a:solidFill>
              </a:rPr>
              <a:t>Independencia funcional con tratamiento médico</a:t>
            </a:r>
            <a:endParaRPr lang="en-US" sz="850" dirty="0"/>
          </a:p>
        </p:txBody>
      </p:sp>
      <p:sp>
        <p:nvSpPr>
          <p:cNvPr id="21" name="Shape 19"/>
          <p:cNvSpPr/>
          <p:nvPr/>
        </p:nvSpPr>
        <p:spPr>
          <a:xfrm>
            <a:off x="6035040" y="2834640"/>
            <a:ext cx="2743200" cy="1051560"/>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22" name="Shape 20"/>
          <p:cNvSpPr/>
          <p:nvPr/>
        </p:nvSpPr>
        <p:spPr>
          <a:xfrm>
            <a:off x="6035040" y="2834640"/>
            <a:ext cx="2743200" cy="73152"/>
          </a:xfrm>
          <a:prstGeom prst="rect">
            <a:avLst/>
          </a:prstGeom>
          <a:solidFill>
            <a:srgbClr val="1E8FA0"/>
          </a:solidFill>
          <a:ln w="12700">
            <a:solidFill>
              <a:srgbClr val="1E8FA0"/>
            </a:solidFill>
            <a:prstDash val="solid"/>
          </a:ln>
        </p:spPr>
      </p:sp>
      <p:sp>
        <p:nvSpPr>
          <p:cNvPr id="23" name="Text 21"/>
          <p:cNvSpPr/>
          <p:nvPr/>
        </p:nvSpPr>
        <p:spPr>
          <a:xfrm>
            <a:off x="6035040" y="2907792"/>
            <a:ext cx="2743200" cy="502920"/>
          </a:xfrm>
          <a:prstGeom prst="rect">
            <a:avLst/>
          </a:prstGeom>
          <a:noFill/>
          <a:ln/>
        </p:spPr>
        <p:txBody>
          <a:bodyPr wrap="square" lIns="0" tIns="0" rIns="0" bIns="0" rtlCol="0" anchor="ctr"/>
          <a:lstStyle/>
          <a:p>
            <a:pPr marL="0" indent="0" algn="ctr">
              <a:buNone/>
            </a:pPr>
            <a:r>
              <a:rPr lang="en-US" sz="2600" b="1" dirty="0">
                <a:solidFill>
                  <a:srgbClr val="1E8FA0"/>
                </a:solidFill>
              </a:rPr>
              <a:t>NNT = 8</a:t>
            </a:r>
            <a:endParaRPr lang="en-US" sz="2600" dirty="0"/>
          </a:p>
        </p:txBody>
      </p:sp>
      <p:sp>
        <p:nvSpPr>
          <p:cNvPr id="24" name="Text 22"/>
          <p:cNvSpPr/>
          <p:nvPr/>
        </p:nvSpPr>
        <p:spPr>
          <a:xfrm>
            <a:off x="6126480" y="3410712"/>
            <a:ext cx="2560320" cy="457200"/>
          </a:xfrm>
          <a:prstGeom prst="rect">
            <a:avLst/>
          </a:prstGeom>
          <a:noFill/>
          <a:ln/>
        </p:spPr>
        <p:txBody>
          <a:bodyPr wrap="square" lIns="0" tIns="0" rIns="0" bIns="0" rtlCol="0" anchor="ctr"/>
          <a:lstStyle/>
          <a:p>
            <a:pPr marL="0" indent="0" algn="ctr">
              <a:buNone/>
            </a:pPr>
            <a:r>
              <a:rPr lang="en-US" sz="850" dirty="0">
                <a:solidFill>
                  <a:srgbClr val="4A5568"/>
                </a:solidFill>
              </a:rPr>
              <a:t>Para evitar 1 caso adicional de dependencia funcional</a:t>
            </a:r>
            <a:endParaRPr lang="en-US" sz="850" dirty="0"/>
          </a:p>
        </p:txBody>
      </p:sp>
      <p:sp>
        <p:nvSpPr>
          <p:cNvPr id="25" name="Text 23"/>
          <p:cNvSpPr/>
          <p:nvPr/>
        </p:nvSpPr>
        <p:spPr>
          <a:xfrm>
            <a:off x="274320" y="3959352"/>
            <a:ext cx="8595360" cy="274320"/>
          </a:xfrm>
          <a:prstGeom prst="rect">
            <a:avLst/>
          </a:prstGeom>
          <a:noFill/>
          <a:ln/>
        </p:spPr>
        <p:txBody>
          <a:bodyPr wrap="square" lIns="0" tIns="0" rIns="0" bIns="0" rtlCol="0" anchor="ctr"/>
          <a:lstStyle/>
          <a:p>
            <a:pPr marL="0" indent="0">
              <a:buNone/>
            </a:pPr>
            <a:r>
              <a:rPr lang="en-US" sz="800" i="1" dirty="0">
                <a:solidFill>
                  <a:srgbClr val="718096"/>
                </a:solidFill>
              </a:rPr>
              <a:t>HERMES: beneficio de EVT confirmado incluso en ≥80 años (cOR 3.68 [1.95–6.92]) · Técnicas aceptadas: stent retriever, aspiración directa, combinadas</a:t>
            </a:r>
            <a:endParaRPr lang="en-US" sz="800" dirty="0"/>
          </a:p>
        </p:txBody>
      </p:sp>
      <p:sp>
        <p:nvSpPr>
          <p:cNvPr id="26" name="Shape 24"/>
          <p:cNvSpPr/>
          <p:nvPr/>
        </p:nvSpPr>
        <p:spPr>
          <a:xfrm>
            <a:off x="0" y="4892040"/>
            <a:ext cx="9144000" cy="251460"/>
          </a:xfrm>
          <a:prstGeom prst="rect">
            <a:avLst/>
          </a:prstGeom>
          <a:solidFill>
            <a:srgbClr val="136475"/>
          </a:solidFill>
          <a:ln w="12700">
            <a:solidFill>
              <a:srgbClr val="136475"/>
            </a:solidFill>
            <a:prstDash val="solid"/>
          </a:ln>
        </p:spPr>
      </p:sp>
      <p:sp>
        <p:nvSpPr>
          <p:cNvPr id="27" name="Text 25"/>
          <p:cNvSpPr/>
          <p:nvPr/>
        </p:nvSpPr>
        <p:spPr>
          <a:xfrm>
            <a:off x="274320" y="4892040"/>
            <a:ext cx="5486400" cy="251460"/>
          </a:xfrm>
          <a:prstGeom prst="rect">
            <a:avLst/>
          </a:prstGeom>
          <a:noFill/>
          <a:ln/>
        </p:spPr>
        <p:txBody>
          <a:bodyPr wrap="square" lIns="0" tIns="0" rIns="0" bIns="0" rtlCol="0" anchor="ctr"/>
          <a:lstStyle/>
          <a:p>
            <a:pPr marL="0" indent="0">
              <a:buNone/>
            </a:pPr>
            <a:r>
              <a:rPr lang="en-US" sz="800" i="1" dirty="0">
                <a:solidFill>
                  <a:srgbClr val="FFFFFF"/>
                </a:solidFill>
              </a:rPr>
              <a:t>Guía AHA Stroke 2026</a:t>
            </a:r>
            <a:endParaRPr lang="en-US" sz="800" dirty="0"/>
          </a:p>
        </p:txBody>
      </p:sp>
      <p:sp>
        <p:nvSpPr>
          <p:cNvPr id="28" name="Text 26"/>
          <p:cNvSpPr/>
          <p:nvPr/>
        </p:nvSpPr>
        <p:spPr>
          <a:xfrm>
            <a:off x="6858000" y="4892040"/>
            <a:ext cx="2011680" cy="251460"/>
          </a:xfrm>
          <a:prstGeom prst="rect">
            <a:avLst/>
          </a:prstGeom>
          <a:noFill/>
          <a:ln/>
        </p:spPr>
        <p:txBody>
          <a:bodyPr wrap="square" lIns="0" tIns="0" rIns="0" bIns="0" rtlCol="0" anchor="ctr"/>
          <a:lstStyle/>
          <a:p>
            <a:pPr marL="0" indent="0" algn="r">
              <a:buNone/>
            </a:pPr>
            <a:r>
              <a:rPr lang="en-US" sz="800" b="1" dirty="0">
                <a:solidFill>
                  <a:srgbClr val="FFFFFF"/>
                </a:solidFill>
              </a:rPr>
              <a:t>Hospital Posadas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FA0"/>
          </a:solidFill>
          <a:ln w="12700">
            <a:solidFill>
              <a:srgbClr val="1E8FA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800" b="1" dirty="0">
                <a:solidFill>
                  <a:srgbClr val="FFFFFF"/>
                </a:solidFill>
              </a:rPr>
              <a:t>Ventana extendida 6–24 horas · Recs. 2 y 3</a:t>
            </a:r>
            <a:endParaRPr lang="en-US" sz="1800" dirty="0"/>
          </a:p>
        </p:txBody>
      </p:sp>
      <p:sp>
        <p:nvSpPr>
          <p:cNvPr id="4" name="Shape 2"/>
          <p:cNvSpPr/>
          <p:nvPr/>
        </p:nvSpPr>
        <p:spPr>
          <a:xfrm>
            <a:off x="274320" y="804672"/>
            <a:ext cx="502920" cy="502920"/>
          </a:xfrm>
          <a:prstGeom prst="rect">
            <a:avLst/>
          </a:prstGeom>
          <a:solidFill>
            <a:srgbClr val="1A9464"/>
          </a:solidFill>
          <a:ln w="12700">
            <a:solidFill>
              <a:srgbClr val="1A9464"/>
            </a:solidFill>
            <a:prstDash val="solid"/>
          </a:ln>
        </p:spPr>
      </p:sp>
      <p:sp>
        <p:nvSpPr>
          <p:cNvPr id="5" name="Text 3"/>
          <p:cNvSpPr/>
          <p:nvPr/>
        </p:nvSpPr>
        <p:spPr>
          <a:xfrm>
            <a:off x="274320" y="80467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Shape 4"/>
          <p:cNvSpPr/>
          <p:nvPr/>
        </p:nvSpPr>
        <p:spPr>
          <a:xfrm>
            <a:off x="274320" y="1325880"/>
            <a:ext cx="502920" cy="292608"/>
          </a:xfrm>
          <a:prstGeom prst="rect">
            <a:avLst/>
          </a:prstGeom>
          <a:solidFill>
            <a:srgbClr val="2C3E50"/>
          </a:solidFill>
          <a:ln w="12700">
            <a:solidFill>
              <a:srgbClr val="2C3E50"/>
            </a:solidFill>
            <a:prstDash val="solid"/>
          </a:ln>
        </p:spPr>
      </p:sp>
      <p:sp>
        <p:nvSpPr>
          <p:cNvPr id="7" name="Text 5"/>
          <p:cNvSpPr/>
          <p:nvPr/>
        </p:nvSpPr>
        <p:spPr>
          <a:xfrm>
            <a:off x="274320" y="1325880"/>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A</a:t>
            </a:r>
            <a:endParaRPr lang="en-US" sz="800" dirty="0"/>
          </a:p>
        </p:txBody>
      </p:sp>
      <p:sp>
        <p:nvSpPr>
          <p:cNvPr id="8" name="Shape 6"/>
          <p:cNvSpPr/>
          <p:nvPr/>
        </p:nvSpPr>
        <p:spPr>
          <a:xfrm>
            <a:off x="914400" y="804672"/>
            <a:ext cx="7955280" cy="960120"/>
          </a:xfrm>
          <a:prstGeom prst="rect">
            <a:avLst/>
          </a:prstGeom>
          <a:solidFill>
            <a:srgbClr val="E5F6F9"/>
          </a:solidFill>
          <a:ln w="19050">
            <a:solidFill>
              <a:srgbClr val="1E8FA0"/>
            </a:solidFill>
            <a:prstDash val="solid"/>
          </a:ln>
        </p:spPr>
      </p:sp>
      <p:sp>
        <p:nvSpPr>
          <p:cNvPr id="9" name="Text 7"/>
          <p:cNvSpPr/>
          <p:nvPr/>
        </p:nvSpPr>
        <p:spPr>
          <a:xfrm>
            <a:off x="960120" y="804672"/>
            <a:ext cx="7772400" cy="219456"/>
          </a:xfrm>
          <a:prstGeom prst="rect">
            <a:avLst/>
          </a:prstGeom>
          <a:noFill/>
          <a:ln/>
        </p:spPr>
        <p:txBody>
          <a:bodyPr wrap="square" lIns="38100" tIns="63500" rIns="63500" bIns="0" rtlCol="0" anchor="ctr"/>
          <a:lstStyle/>
          <a:p>
            <a:pPr marL="0" indent="0">
              <a:buNone/>
            </a:pPr>
            <a:r>
              <a:rPr lang="en-US" sz="950" b="1" dirty="0">
                <a:solidFill>
                  <a:srgbClr val="136475"/>
                </a:solidFill>
              </a:rPr>
              <a:t>Rec. 2 — </a:t>
            </a:r>
            <a:r>
              <a:rPr lang="en-US" sz="950" b="1" dirty="0" err="1">
                <a:solidFill>
                  <a:srgbClr val="136475"/>
                </a:solidFill>
              </a:rPr>
              <a:t>Trombectomia</a:t>
            </a:r>
            <a:r>
              <a:rPr lang="en-US" sz="950" b="1" dirty="0">
                <a:solidFill>
                  <a:srgbClr val="136475"/>
                </a:solidFill>
              </a:rPr>
              <a:t> de 6 a 24 horas + ASPECTS ≥ 6 </a:t>
            </a:r>
            <a:endParaRPr lang="en-US" sz="950" dirty="0"/>
          </a:p>
        </p:txBody>
      </p:sp>
      <p:sp>
        <p:nvSpPr>
          <p:cNvPr id="10" name="Text 8"/>
          <p:cNvSpPr/>
          <p:nvPr/>
        </p:nvSpPr>
        <p:spPr>
          <a:xfrm>
            <a:off x="960120" y="1024128"/>
            <a:ext cx="7772400" cy="731520"/>
          </a:xfrm>
          <a:prstGeom prst="rect">
            <a:avLst/>
          </a:prstGeom>
          <a:noFill/>
          <a:ln/>
        </p:spPr>
        <p:txBody>
          <a:bodyPr wrap="square" lIns="0" tIns="63500" rIns="63500" bIns="63500" rtlCol="0" anchor="t"/>
          <a:lstStyle/>
          <a:p>
            <a:pPr marL="0" indent="0">
              <a:buNone/>
            </a:pPr>
            <a:r>
              <a:rPr lang="en-US" sz="950" i="1" dirty="0">
                <a:solidFill>
                  <a:srgbClr val="1C2833"/>
                </a:solidFill>
              </a:rPr>
              <a:t>"In patients with AIS from anterior circulation proximal LVO of the ICA or M1 presenting between 6 and 24 hours from onset of symptoms, with NIHSS score ≥6, prestroke mRS score 0 to 1 and ASPECTS ≥6, EVT is recommended to improve functional clinical outcomes and reduce mortality."</a:t>
            </a:r>
            <a:endParaRPr lang="en-US" sz="950" dirty="0"/>
          </a:p>
        </p:txBody>
      </p:sp>
      <p:sp>
        <p:nvSpPr>
          <p:cNvPr id="11" name="Shape 9"/>
          <p:cNvSpPr/>
          <p:nvPr/>
        </p:nvSpPr>
        <p:spPr>
          <a:xfrm>
            <a:off x="274320" y="1920240"/>
            <a:ext cx="502920" cy="502920"/>
          </a:xfrm>
          <a:prstGeom prst="rect">
            <a:avLst/>
          </a:prstGeom>
          <a:solidFill>
            <a:srgbClr val="1A9464"/>
          </a:solidFill>
          <a:ln w="12700">
            <a:solidFill>
              <a:srgbClr val="1A9464"/>
            </a:solidFill>
            <a:prstDash val="solid"/>
          </a:ln>
        </p:spPr>
      </p:sp>
      <p:sp>
        <p:nvSpPr>
          <p:cNvPr id="12" name="Text 10"/>
          <p:cNvSpPr/>
          <p:nvPr/>
        </p:nvSpPr>
        <p:spPr>
          <a:xfrm>
            <a:off x="27432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3" name="Shape 11"/>
          <p:cNvSpPr/>
          <p:nvPr/>
        </p:nvSpPr>
        <p:spPr>
          <a:xfrm>
            <a:off x="274320" y="2441448"/>
            <a:ext cx="502920" cy="292608"/>
          </a:xfrm>
          <a:prstGeom prst="rect">
            <a:avLst/>
          </a:prstGeom>
          <a:solidFill>
            <a:srgbClr val="2C3E50"/>
          </a:solidFill>
          <a:ln w="12700">
            <a:solidFill>
              <a:srgbClr val="2C3E50"/>
            </a:solidFill>
            <a:prstDash val="solid"/>
          </a:ln>
        </p:spPr>
      </p:sp>
      <p:sp>
        <p:nvSpPr>
          <p:cNvPr id="14" name="Text 12"/>
          <p:cNvSpPr/>
          <p:nvPr/>
        </p:nvSpPr>
        <p:spPr>
          <a:xfrm>
            <a:off x="274320" y="2441448"/>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A</a:t>
            </a:r>
            <a:endParaRPr lang="en-US" sz="800" dirty="0"/>
          </a:p>
        </p:txBody>
      </p:sp>
      <p:sp>
        <p:nvSpPr>
          <p:cNvPr id="15" name="Shape 13"/>
          <p:cNvSpPr/>
          <p:nvPr/>
        </p:nvSpPr>
        <p:spPr>
          <a:xfrm>
            <a:off x="914400" y="1920240"/>
            <a:ext cx="7955280" cy="1078992"/>
          </a:xfrm>
          <a:prstGeom prst="rect">
            <a:avLst/>
          </a:prstGeom>
          <a:solidFill>
            <a:srgbClr val="EAF8EC"/>
          </a:solidFill>
          <a:ln w="19050">
            <a:solidFill>
              <a:srgbClr val="1A9464"/>
            </a:solidFill>
            <a:prstDash val="solid"/>
          </a:ln>
        </p:spPr>
      </p:sp>
      <p:sp>
        <p:nvSpPr>
          <p:cNvPr id="16" name="Text 14"/>
          <p:cNvSpPr/>
          <p:nvPr/>
        </p:nvSpPr>
        <p:spPr>
          <a:xfrm>
            <a:off x="960120" y="1920240"/>
            <a:ext cx="7772400" cy="237744"/>
          </a:xfrm>
          <a:prstGeom prst="rect">
            <a:avLst/>
          </a:prstGeom>
          <a:noFill/>
          <a:ln/>
        </p:spPr>
        <p:txBody>
          <a:bodyPr wrap="square" lIns="38100" tIns="63500" rIns="63500" bIns="0" rtlCol="0" anchor="ctr"/>
          <a:lstStyle/>
          <a:p>
            <a:pPr marL="0" indent="0">
              <a:buNone/>
            </a:pPr>
            <a:r>
              <a:rPr lang="en-US" sz="950" b="1" dirty="0">
                <a:solidFill>
                  <a:srgbClr val="1A9464"/>
                </a:solidFill>
              </a:rPr>
              <a:t>Rec. 3 — </a:t>
            </a:r>
            <a:r>
              <a:rPr lang="en-US" sz="950" b="1" dirty="0" err="1">
                <a:solidFill>
                  <a:srgbClr val="1A9464"/>
                </a:solidFill>
              </a:rPr>
              <a:t>Trombectomia</a:t>
            </a:r>
            <a:r>
              <a:rPr lang="en-US" sz="950" b="1" dirty="0">
                <a:solidFill>
                  <a:srgbClr val="1A9464"/>
                </a:solidFill>
              </a:rPr>
              <a:t> de 6 a 24 horas ASPECTS 3–5</a:t>
            </a:r>
            <a:endParaRPr lang="en-US" sz="950" dirty="0"/>
          </a:p>
        </p:txBody>
      </p:sp>
      <p:sp>
        <p:nvSpPr>
          <p:cNvPr id="17" name="Text 15"/>
          <p:cNvSpPr/>
          <p:nvPr/>
        </p:nvSpPr>
        <p:spPr>
          <a:xfrm>
            <a:off x="960120" y="2157984"/>
            <a:ext cx="7772400" cy="841248"/>
          </a:xfrm>
          <a:prstGeom prst="rect">
            <a:avLst/>
          </a:prstGeom>
          <a:noFill/>
          <a:ln/>
        </p:spPr>
        <p:txBody>
          <a:bodyPr wrap="square" lIns="0" tIns="63500" rIns="63500" bIns="63500" rtlCol="0" anchor="t"/>
          <a:lstStyle/>
          <a:p>
            <a:pPr marL="0" indent="0">
              <a:buNone/>
            </a:pPr>
            <a:r>
              <a:rPr lang="en-US" sz="950" b="1" i="1" dirty="0">
                <a:solidFill>
                  <a:srgbClr val="1C2833"/>
                </a:solidFill>
              </a:rPr>
              <a:t>"In selected patients </a:t>
            </a:r>
            <a:r>
              <a:rPr lang="en-US" sz="950" b="1" dirty="0">
                <a:solidFill>
                  <a:srgbClr val="1A9464"/>
                </a:solidFill>
              </a:rPr>
              <a:t>★ </a:t>
            </a:r>
            <a:r>
              <a:rPr lang="en-US" sz="950" i="1" dirty="0">
                <a:solidFill>
                  <a:srgbClr val="1C2833"/>
                </a:solidFill>
              </a:rPr>
              <a:t>with AIS from anterior circulation proximal LVO of the ICA or M1, presenting between 6 and 24 hours from onset of symptoms, with age &lt;80 years, NIHSS score ≥6, prestroke mRS score 0 to 1, ASPECTS 3 to 5, and without significant mass effect on imaging, EVT is recommended to improve functional clinical outcomes and reduce mortality."</a:t>
            </a:r>
            <a:endParaRPr lang="en-US" sz="950" dirty="0"/>
          </a:p>
        </p:txBody>
      </p:sp>
      <p:sp>
        <p:nvSpPr>
          <p:cNvPr id="18" name="Shape 16"/>
          <p:cNvSpPr/>
          <p:nvPr/>
        </p:nvSpPr>
        <p:spPr>
          <a:xfrm>
            <a:off x="274320" y="3127248"/>
            <a:ext cx="8595360" cy="841248"/>
          </a:xfrm>
          <a:prstGeom prst="rect">
            <a:avLst/>
          </a:prstGeom>
          <a:solidFill>
            <a:srgbClr val="EDF2FB"/>
          </a:solidFill>
          <a:ln w="12700">
            <a:solidFill>
              <a:srgbClr val="2980B9"/>
            </a:solidFill>
            <a:prstDash val="solid"/>
          </a:ln>
        </p:spPr>
      </p:sp>
      <p:sp>
        <p:nvSpPr>
          <p:cNvPr id="19" name="Text 17"/>
          <p:cNvSpPr/>
          <p:nvPr/>
        </p:nvSpPr>
        <p:spPr>
          <a:xfrm>
            <a:off x="411480" y="3145536"/>
            <a:ext cx="3657600" cy="201168"/>
          </a:xfrm>
          <a:prstGeom prst="rect">
            <a:avLst/>
          </a:prstGeom>
          <a:noFill/>
          <a:ln/>
        </p:spPr>
        <p:txBody>
          <a:bodyPr wrap="square" lIns="0" tIns="0" rIns="0" bIns="0" rtlCol="0" anchor="ctr"/>
          <a:lstStyle/>
          <a:p>
            <a:pPr marL="0" indent="0">
              <a:buNone/>
            </a:pPr>
            <a:r>
              <a:rPr lang="en-US" sz="950" b="1" dirty="0">
                <a:solidFill>
                  <a:srgbClr val="2980B9"/>
                </a:solidFill>
              </a:rPr>
              <a:t>Cambio clave vs. 2019</a:t>
            </a:r>
            <a:endParaRPr lang="en-US" sz="950" dirty="0"/>
          </a:p>
        </p:txBody>
      </p:sp>
      <p:sp>
        <p:nvSpPr>
          <p:cNvPr id="20" name="Text 18"/>
          <p:cNvSpPr/>
          <p:nvPr/>
        </p:nvSpPr>
        <p:spPr>
          <a:xfrm>
            <a:off x="411480" y="3346704"/>
            <a:ext cx="8321040" cy="594360"/>
          </a:xfrm>
          <a:prstGeom prst="rect">
            <a:avLst/>
          </a:prstGeom>
          <a:noFill/>
          <a:ln/>
        </p:spPr>
        <p:txBody>
          <a:bodyPr wrap="square" lIns="0" tIns="0" rIns="0" bIns="0" rtlCol="0" anchor="ctr"/>
          <a:lstStyle/>
          <a:p>
            <a:pPr marL="0" indent="0">
              <a:buNone/>
            </a:pPr>
            <a:r>
              <a:rPr lang="en-US" sz="950" dirty="0">
                <a:solidFill>
                  <a:srgbClr val="1C2833"/>
                </a:solidFill>
              </a:rPr>
              <a:t>ANTES (2019): DAWN y DEFUSE-3 requerían mismatch perfusión/core (CTP o MRI) obligatorio para la ventana extendida.</a:t>
            </a:r>
            <a:endParaRPr lang="en-US" sz="950" dirty="0"/>
          </a:p>
          <a:p>
            <a:pPr marL="0" indent="0">
              <a:buNone/>
            </a:pPr>
            <a:r>
              <a:rPr lang="en-US" sz="950" dirty="0">
                <a:solidFill>
                  <a:srgbClr val="1C2833"/>
                </a:solidFill>
              </a:rPr>
              <a:t>AHORA (2026): ASPECTS ≥6 en TC simple es criterio suficiente. La perfusión avanzada ya NO es mandatoria.</a:t>
            </a:r>
            <a:endParaRPr lang="en-US" sz="950" dirty="0"/>
          </a:p>
        </p:txBody>
      </p:sp>
      <p:sp>
        <p:nvSpPr>
          <p:cNvPr id="21" name="Shape 19"/>
          <p:cNvSpPr/>
          <p:nvPr/>
        </p:nvSpPr>
        <p:spPr>
          <a:xfrm>
            <a:off x="274320" y="4059936"/>
            <a:ext cx="8595360" cy="475488"/>
          </a:xfrm>
          <a:prstGeom prst="rect">
            <a:avLst/>
          </a:prstGeom>
          <a:solidFill>
            <a:srgbClr val="FFFFFF"/>
          </a:solidFill>
          <a:ln w="12700">
            <a:solidFill>
              <a:srgbClr val="C5DCE3"/>
            </a:solidFill>
            <a:prstDash val="solid"/>
          </a:ln>
        </p:spPr>
      </p:sp>
      <p:sp>
        <p:nvSpPr>
          <p:cNvPr id="22" name="Text 20"/>
          <p:cNvSpPr/>
          <p:nvPr/>
        </p:nvSpPr>
        <p:spPr>
          <a:xfrm>
            <a:off x="365760" y="4059936"/>
            <a:ext cx="8412480" cy="475488"/>
          </a:xfrm>
          <a:prstGeom prst="rect">
            <a:avLst/>
          </a:prstGeom>
          <a:noFill/>
          <a:ln/>
        </p:spPr>
        <p:txBody>
          <a:bodyPr wrap="square" lIns="0" tIns="0" rIns="0" bIns="0" rtlCol="0" anchor="ctr"/>
          <a:lstStyle/>
          <a:p>
            <a:pPr marL="0" indent="0">
              <a:buNone/>
            </a:pPr>
            <a:r>
              <a:rPr lang="en-US" sz="900" i="1" dirty="0">
                <a:solidFill>
                  <a:srgbClr val="4A5568"/>
                </a:solidFill>
              </a:rPr>
              <a:t>AURORA meta-análisis (6–24 h): EVT reduce discapacidad a 90 días (adj. cOR 2.54 [1.83–3.54]; p&lt;0.0001). Sin heterogeneidad entre pacientes seleccionados con perfusión vs. ASPECTS solo.</a:t>
            </a:r>
            <a:endParaRPr lang="en-US" sz="900" dirty="0"/>
          </a:p>
        </p:txBody>
      </p:sp>
      <p:sp>
        <p:nvSpPr>
          <p:cNvPr id="23" name="Shape 21"/>
          <p:cNvSpPr/>
          <p:nvPr/>
        </p:nvSpPr>
        <p:spPr>
          <a:xfrm>
            <a:off x="0" y="4892040"/>
            <a:ext cx="9144000" cy="251460"/>
          </a:xfrm>
          <a:prstGeom prst="rect">
            <a:avLst/>
          </a:prstGeom>
          <a:solidFill>
            <a:srgbClr val="136475"/>
          </a:solidFill>
          <a:ln w="12700">
            <a:solidFill>
              <a:srgbClr val="136475"/>
            </a:solidFill>
            <a:prstDash val="solid"/>
          </a:ln>
        </p:spPr>
      </p:sp>
      <p:sp>
        <p:nvSpPr>
          <p:cNvPr id="24" name="Text 22"/>
          <p:cNvSpPr/>
          <p:nvPr/>
        </p:nvSpPr>
        <p:spPr>
          <a:xfrm>
            <a:off x="274320" y="4892040"/>
            <a:ext cx="5486400" cy="251460"/>
          </a:xfrm>
          <a:prstGeom prst="rect">
            <a:avLst/>
          </a:prstGeom>
          <a:noFill/>
          <a:ln/>
        </p:spPr>
        <p:txBody>
          <a:bodyPr wrap="square" lIns="0" tIns="0" rIns="0" bIns="0" rtlCol="0" anchor="ctr"/>
          <a:lstStyle/>
          <a:p>
            <a:pPr marL="0" indent="0">
              <a:buNone/>
            </a:pPr>
            <a:r>
              <a:rPr lang="en-US" sz="800" i="1" dirty="0">
                <a:solidFill>
                  <a:srgbClr val="FFFFFF"/>
                </a:solidFill>
              </a:rPr>
              <a:t>Guía AHA Stroke 2026</a:t>
            </a:r>
            <a:endParaRPr lang="en-US" sz="800" dirty="0"/>
          </a:p>
        </p:txBody>
      </p:sp>
      <p:sp>
        <p:nvSpPr>
          <p:cNvPr id="25" name="Text 23"/>
          <p:cNvSpPr/>
          <p:nvPr/>
        </p:nvSpPr>
        <p:spPr>
          <a:xfrm>
            <a:off x="6858000" y="4892040"/>
            <a:ext cx="2011680" cy="251460"/>
          </a:xfrm>
          <a:prstGeom prst="rect">
            <a:avLst/>
          </a:prstGeom>
          <a:noFill/>
          <a:ln/>
        </p:spPr>
        <p:txBody>
          <a:bodyPr wrap="square" lIns="0" tIns="0" rIns="0" bIns="0" rtlCol="0" anchor="ctr"/>
          <a:lstStyle/>
          <a:p>
            <a:pPr marL="0" indent="0" algn="r">
              <a:buNone/>
            </a:pPr>
            <a:r>
              <a:rPr lang="en-US" sz="800" b="1" dirty="0">
                <a:solidFill>
                  <a:srgbClr val="FFFFFF"/>
                </a:solidFill>
              </a:rPr>
              <a:t>Hospital Posadas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FA0"/>
          </a:solidFill>
          <a:ln w="12700">
            <a:solidFill>
              <a:srgbClr val="1E8FA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800" b="1" dirty="0">
                <a:solidFill>
                  <a:srgbClr val="FFFFFF"/>
                </a:solidFill>
              </a:rPr>
              <a:t>(Large Core </a:t>
            </a:r>
            <a:r>
              <a:rPr lang="en-US" sz="1800" b="1" dirty="0" err="1">
                <a:solidFill>
                  <a:srgbClr val="FFFFFF"/>
                </a:solidFill>
              </a:rPr>
              <a:t>extremo</a:t>
            </a:r>
            <a:r>
              <a:rPr lang="en-US" sz="1800" b="1" dirty="0">
                <a:solidFill>
                  <a:srgbClr val="FFFFFF"/>
                </a:solidFill>
              </a:rPr>
              <a:t>) 0 a 6 horas · ASPECTS 0–2 · Rec. 4</a:t>
            </a:r>
            <a:endParaRPr lang="en-US" sz="1800" dirty="0"/>
          </a:p>
        </p:txBody>
      </p:sp>
      <p:sp>
        <p:nvSpPr>
          <p:cNvPr id="4" name="Shape 2"/>
          <p:cNvSpPr/>
          <p:nvPr/>
        </p:nvSpPr>
        <p:spPr>
          <a:xfrm>
            <a:off x="274320" y="804672"/>
            <a:ext cx="502920" cy="502920"/>
          </a:xfrm>
          <a:prstGeom prst="rect">
            <a:avLst/>
          </a:prstGeom>
          <a:solidFill>
            <a:srgbClr val="2980B9"/>
          </a:solidFill>
          <a:ln w="12700">
            <a:solidFill>
              <a:srgbClr val="2980B9"/>
            </a:solidFill>
            <a:prstDash val="solid"/>
          </a:ln>
        </p:spPr>
      </p:sp>
      <p:sp>
        <p:nvSpPr>
          <p:cNvPr id="5" name="Text 3"/>
          <p:cNvSpPr/>
          <p:nvPr/>
        </p:nvSpPr>
        <p:spPr>
          <a:xfrm>
            <a:off x="274320" y="80467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2a</a:t>
            </a:r>
            <a:endParaRPr lang="en-US" sz="1300" dirty="0"/>
          </a:p>
        </p:txBody>
      </p:sp>
      <p:sp>
        <p:nvSpPr>
          <p:cNvPr id="6" name="Shape 4"/>
          <p:cNvSpPr/>
          <p:nvPr/>
        </p:nvSpPr>
        <p:spPr>
          <a:xfrm>
            <a:off x="274320" y="1325880"/>
            <a:ext cx="502920" cy="292608"/>
          </a:xfrm>
          <a:prstGeom prst="rect">
            <a:avLst/>
          </a:prstGeom>
          <a:solidFill>
            <a:srgbClr val="2C3E50"/>
          </a:solidFill>
          <a:ln w="12700">
            <a:solidFill>
              <a:srgbClr val="2C3E50"/>
            </a:solidFill>
            <a:prstDash val="solid"/>
          </a:ln>
        </p:spPr>
      </p:sp>
      <p:sp>
        <p:nvSpPr>
          <p:cNvPr id="7" name="Text 5"/>
          <p:cNvSpPr/>
          <p:nvPr/>
        </p:nvSpPr>
        <p:spPr>
          <a:xfrm>
            <a:off x="274320" y="1325880"/>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B-R</a:t>
            </a:r>
            <a:endParaRPr lang="en-US" sz="800" dirty="0"/>
          </a:p>
        </p:txBody>
      </p:sp>
      <p:sp>
        <p:nvSpPr>
          <p:cNvPr id="8" name="Shape 6"/>
          <p:cNvSpPr/>
          <p:nvPr/>
        </p:nvSpPr>
        <p:spPr>
          <a:xfrm>
            <a:off x="914400" y="804672"/>
            <a:ext cx="7955280" cy="1024128"/>
          </a:xfrm>
          <a:prstGeom prst="rect">
            <a:avLst/>
          </a:prstGeom>
          <a:solidFill>
            <a:srgbClr val="EAF0FB"/>
          </a:solidFill>
          <a:ln w="19050">
            <a:solidFill>
              <a:srgbClr val="2980B9"/>
            </a:solidFill>
            <a:prstDash val="solid"/>
          </a:ln>
        </p:spPr>
      </p:sp>
      <p:sp>
        <p:nvSpPr>
          <p:cNvPr id="9" name="Text 7"/>
          <p:cNvSpPr/>
          <p:nvPr/>
        </p:nvSpPr>
        <p:spPr>
          <a:xfrm>
            <a:off x="960120" y="804672"/>
            <a:ext cx="7772400" cy="219456"/>
          </a:xfrm>
          <a:prstGeom prst="rect">
            <a:avLst/>
          </a:prstGeom>
          <a:noFill/>
          <a:ln/>
        </p:spPr>
        <p:txBody>
          <a:bodyPr wrap="square" lIns="38100" tIns="63500" rIns="63500" bIns="0" rtlCol="0" anchor="ctr"/>
          <a:lstStyle/>
          <a:p>
            <a:pPr marL="0" indent="0">
              <a:buNone/>
            </a:pPr>
            <a:r>
              <a:rPr lang="en-US" sz="950" b="1" dirty="0">
                <a:solidFill>
                  <a:srgbClr val="2980B9"/>
                </a:solidFill>
              </a:rPr>
              <a:t>Rec. 4 — ASPECTS 0–2 (seleccionados) ★ NUEVO</a:t>
            </a:r>
            <a:endParaRPr lang="en-US" sz="950" dirty="0"/>
          </a:p>
        </p:txBody>
      </p:sp>
      <p:sp>
        <p:nvSpPr>
          <p:cNvPr id="10" name="Text 8"/>
          <p:cNvSpPr/>
          <p:nvPr/>
        </p:nvSpPr>
        <p:spPr>
          <a:xfrm>
            <a:off x="960120" y="1024128"/>
            <a:ext cx="7772400" cy="804672"/>
          </a:xfrm>
          <a:prstGeom prst="rect">
            <a:avLst/>
          </a:prstGeom>
          <a:noFill/>
          <a:ln/>
        </p:spPr>
        <p:txBody>
          <a:bodyPr wrap="square" lIns="0" tIns="63500" rIns="63500" bIns="63500" rtlCol="0" anchor="t"/>
          <a:lstStyle/>
          <a:p>
            <a:pPr marL="0" indent="0">
              <a:buNone/>
            </a:pPr>
            <a:r>
              <a:rPr lang="en-US" sz="950" i="1" dirty="0">
                <a:solidFill>
                  <a:srgbClr val="1C2833"/>
                </a:solidFill>
              </a:rPr>
              <a:t>"In selected patients with AIS from anterior circulation proximal LVO of the ICA or M1 presenting within 6 hours from onset of symptoms, with age &lt;80 years, NIHSS score ≥6, prestroke mRS 0 to 1, ASPECTS 0 to 2, and without significant mass effect on imaging, EVT is reasonable to improve functional clinical outcomes and reduce mortality."</a:t>
            </a:r>
            <a:endParaRPr lang="en-US" sz="950" dirty="0"/>
          </a:p>
        </p:txBody>
      </p:sp>
      <p:sp>
        <p:nvSpPr>
          <p:cNvPr id="11" name="Shape 9"/>
          <p:cNvSpPr/>
          <p:nvPr/>
        </p:nvSpPr>
        <p:spPr>
          <a:xfrm>
            <a:off x="274320" y="1938528"/>
            <a:ext cx="4206240" cy="2340864"/>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12" name="Shape 10"/>
          <p:cNvSpPr/>
          <p:nvPr/>
        </p:nvSpPr>
        <p:spPr>
          <a:xfrm>
            <a:off x="274320" y="1938528"/>
            <a:ext cx="4206240" cy="292608"/>
          </a:xfrm>
          <a:prstGeom prst="rect">
            <a:avLst/>
          </a:prstGeom>
          <a:solidFill>
            <a:srgbClr val="2980B9"/>
          </a:solidFill>
          <a:ln w="12700">
            <a:solidFill>
              <a:srgbClr val="2980B9"/>
            </a:solidFill>
            <a:prstDash val="solid"/>
          </a:ln>
        </p:spPr>
      </p:sp>
      <p:sp>
        <p:nvSpPr>
          <p:cNvPr id="13" name="Text 11"/>
          <p:cNvSpPr/>
          <p:nvPr/>
        </p:nvSpPr>
        <p:spPr>
          <a:xfrm>
            <a:off x="347472" y="1938528"/>
            <a:ext cx="4059936" cy="292608"/>
          </a:xfrm>
          <a:prstGeom prst="rect">
            <a:avLst/>
          </a:prstGeom>
          <a:noFill/>
          <a:ln/>
        </p:spPr>
        <p:txBody>
          <a:bodyPr wrap="square" lIns="0" tIns="0" rIns="0" bIns="0" rtlCol="0" anchor="ctr"/>
          <a:lstStyle/>
          <a:p>
            <a:pPr marL="0" indent="0">
              <a:buNone/>
            </a:pPr>
            <a:r>
              <a:rPr lang="en-US" sz="900" b="1" dirty="0">
                <a:solidFill>
                  <a:srgbClr val="FFFFFF"/>
                </a:solidFill>
              </a:rPr>
              <a:t>Trial LASTE — único RCT con ASPECTS 0–2 sistemático</a:t>
            </a:r>
            <a:endParaRPr lang="en-US" sz="900" dirty="0"/>
          </a:p>
        </p:txBody>
      </p:sp>
      <p:sp>
        <p:nvSpPr>
          <p:cNvPr id="14" name="Text 12"/>
          <p:cNvSpPr/>
          <p:nvPr/>
        </p:nvSpPr>
        <p:spPr>
          <a:xfrm>
            <a:off x="384048" y="2267712"/>
            <a:ext cx="3986784" cy="1965960"/>
          </a:xfrm>
          <a:prstGeom prst="rect">
            <a:avLst/>
          </a:prstGeom>
          <a:noFill/>
          <a:ln/>
        </p:spPr>
        <p:txBody>
          <a:bodyPr wrap="square" lIns="50800" tIns="50800" rIns="50800" bIns="50800" rtlCol="0" anchor="t"/>
          <a:lstStyle/>
          <a:p>
            <a:pPr marL="342900" indent="-342900">
              <a:spcAft>
                <a:spcPts val="400"/>
              </a:spcAft>
              <a:buSzPct val="100000"/>
              <a:buChar char="•"/>
            </a:pPr>
            <a:r>
              <a:rPr lang="en-US" sz="950" dirty="0">
                <a:solidFill>
                  <a:srgbClr val="1C2833"/>
                </a:solidFill>
              </a:rPr>
              <a:t>Selección primaria por MRI-DWI (&lt; 6.5 h)</a:t>
            </a:r>
            <a:endParaRPr lang="en-US" sz="950" dirty="0"/>
          </a:p>
          <a:p>
            <a:pPr marL="342900" indent="-342900">
              <a:spcAft>
                <a:spcPts val="400"/>
              </a:spcAft>
              <a:buSzPct val="100000"/>
              <a:buChar char="•"/>
            </a:pPr>
            <a:r>
              <a:rPr lang="en-US" sz="950" dirty="0">
                <a:solidFill>
                  <a:srgbClr val="1C2833"/>
                </a:solidFill>
              </a:rPr>
              <a:t>13.3% independencia funcional con EVT</a:t>
            </a:r>
            <a:endParaRPr lang="en-US" sz="950" dirty="0"/>
          </a:p>
          <a:p>
            <a:pPr marL="342900" indent="-342900">
              <a:spcAft>
                <a:spcPts val="400"/>
              </a:spcAft>
              <a:buSzPct val="100000"/>
              <a:buChar char="•"/>
            </a:pPr>
            <a:r>
              <a:rPr lang="en-US" sz="950" dirty="0">
                <a:solidFill>
                  <a:srgbClr val="1C2833"/>
                </a:solidFill>
              </a:rPr>
              <a:t>vs. 7.5% con tratamiento médico</a:t>
            </a:r>
            <a:endParaRPr lang="en-US" sz="950" dirty="0"/>
          </a:p>
          <a:p>
            <a:pPr marL="342900" indent="-342900">
              <a:spcAft>
                <a:spcPts val="400"/>
              </a:spcAft>
              <a:buSzPct val="100000"/>
              <a:buChar char="•"/>
            </a:pPr>
            <a:r>
              <a:rPr lang="en-US" sz="950" dirty="0">
                <a:solidFill>
                  <a:srgbClr val="1C2833"/>
                </a:solidFill>
              </a:rPr>
              <a:t>Limitaciones: excluye &gt;80 años, HTA refractaria, expectativa &lt;6 meses</a:t>
            </a:r>
            <a:endParaRPr lang="en-US" sz="950" dirty="0"/>
          </a:p>
        </p:txBody>
      </p:sp>
      <p:sp>
        <p:nvSpPr>
          <p:cNvPr id="15" name="Shape 13"/>
          <p:cNvSpPr/>
          <p:nvPr/>
        </p:nvSpPr>
        <p:spPr>
          <a:xfrm>
            <a:off x="4617720" y="1938528"/>
            <a:ext cx="4206240" cy="2340864"/>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16" name="Shape 14"/>
          <p:cNvSpPr/>
          <p:nvPr/>
        </p:nvSpPr>
        <p:spPr>
          <a:xfrm>
            <a:off x="4617720" y="1938528"/>
            <a:ext cx="4206240" cy="292608"/>
          </a:xfrm>
          <a:prstGeom prst="rect">
            <a:avLst/>
          </a:prstGeom>
          <a:solidFill>
            <a:srgbClr val="E67E22"/>
          </a:solidFill>
          <a:ln w="12700">
            <a:solidFill>
              <a:srgbClr val="E67E22"/>
            </a:solidFill>
            <a:prstDash val="solid"/>
          </a:ln>
        </p:spPr>
      </p:sp>
      <p:sp>
        <p:nvSpPr>
          <p:cNvPr id="17" name="Text 15"/>
          <p:cNvSpPr/>
          <p:nvPr/>
        </p:nvSpPr>
        <p:spPr>
          <a:xfrm>
            <a:off x="4690872" y="1938528"/>
            <a:ext cx="4059936" cy="292608"/>
          </a:xfrm>
          <a:prstGeom prst="rect">
            <a:avLst/>
          </a:prstGeom>
          <a:noFill/>
          <a:ln/>
        </p:spPr>
        <p:txBody>
          <a:bodyPr wrap="square" lIns="0" tIns="0" rIns="0" bIns="0" rtlCol="0" anchor="ctr"/>
          <a:lstStyle/>
          <a:p>
            <a:pPr marL="0" indent="0">
              <a:buNone/>
            </a:pPr>
            <a:r>
              <a:rPr lang="en-US" sz="900" b="1" dirty="0">
                <a:solidFill>
                  <a:srgbClr val="FFFFFF"/>
                </a:solidFill>
              </a:rPr>
              <a:t>⚠️  Umbral crítico: análisis SELECT2</a:t>
            </a:r>
            <a:endParaRPr lang="en-US" sz="900" dirty="0"/>
          </a:p>
        </p:txBody>
      </p:sp>
      <p:sp>
        <p:nvSpPr>
          <p:cNvPr id="18" name="Text 16"/>
          <p:cNvSpPr/>
          <p:nvPr/>
        </p:nvSpPr>
        <p:spPr>
          <a:xfrm>
            <a:off x="4727448" y="2267712"/>
            <a:ext cx="3986784" cy="1965960"/>
          </a:xfrm>
          <a:prstGeom prst="rect">
            <a:avLst/>
          </a:prstGeom>
          <a:noFill/>
          <a:ln/>
        </p:spPr>
        <p:txBody>
          <a:bodyPr wrap="square" lIns="50800" tIns="50800" rIns="50800" bIns="50800" rtlCol="0" anchor="t"/>
          <a:lstStyle/>
          <a:p>
            <a:pPr marL="342900" indent="-342900">
              <a:spcAft>
                <a:spcPts val="400"/>
              </a:spcAft>
              <a:buSzPct val="100000"/>
              <a:buChar char="•"/>
            </a:pPr>
            <a:r>
              <a:rPr lang="en-US" sz="950" dirty="0">
                <a:solidFill>
                  <a:srgbClr val="1C2833"/>
                </a:solidFill>
              </a:rPr>
              <a:t>Hipodensidad severa: ≥26 mL con densidad ≤26 HU en TC</a:t>
            </a:r>
            <a:endParaRPr lang="en-US" sz="950" dirty="0"/>
          </a:p>
          <a:p>
            <a:pPr marL="342900" indent="-342900">
              <a:spcAft>
                <a:spcPts val="400"/>
              </a:spcAft>
              <a:buSzPct val="100000"/>
              <a:buChar char="•"/>
            </a:pPr>
            <a:r>
              <a:rPr lang="en-US" sz="950" dirty="0">
                <a:solidFill>
                  <a:srgbClr val="1C2833"/>
                </a:solidFill>
              </a:rPr>
              <a:t>Pacientes sobre este umbral → NO beneficio funcional</a:t>
            </a:r>
            <a:endParaRPr lang="en-US" sz="950" dirty="0"/>
          </a:p>
          <a:p>
            <a:pPr marL="342900" indent="-342900">
              <a:spcAft>
                <a:spcPts val="400"/>
              </a:spcAft>
              <a:buSzPct val="100000"/>
              <a:buChar char="•"/>
            </a:pPr>
            <a:r>
              <a:rPr lang="en-US" sz="950" dirty="0">
                <a:solidFill>
                  <a:srgbClr val="1C2833"/>
                </a:solidFill>
              </a:rPr>
              <a:t>Mayor riesgo: edema cerebral, hemicraniectomía</a:t>
            </a:r>
            <a:endParaRPr lang="en-US" sz="950" dirty="0"/>
          </a:p>
          <a:p>
            <a:pPr marL="342900" indent="-342900">
              <a:spcAft>
                <a:spcPts val="400"/>
              </a:spcAft>
              <a:buSzPct val="100000"/>
              <a:buChar char="•"/>
            </a:pPr>
            <a:r>
              <a:rPr lang="en-US" sz="950" dirty="0">
                <a:solidFill>
                  <a:srgbClr val="1C2833"/>
                </a:solidFill>
              </a:rPr>
              <a:t>→ Criterio cuantitativo útil en guardia para excluir candidatos</a:t>
            </a:r>
            <a:endParaRPr lang="en-US" sz="950" dirty="0"/>
          </a:p>
        </p:txBody>
      </p:sp>
      <p:sp>
        <p:nvSpPr>
          <p:cNvPr id="19" name="Shape 17"/>
          <p:cNvSpPr/>
          <p:nvPr/>
        </p:nvSpPr>
        <p:spPr>
          <a:xfrm>
            <a:off x="274320" y="4352544"/>
            <a:ext cx="8595360" cy="219456"/>
          </a:xfrm>
          <a:prstGeom prst="rect">
            <a:avLst/>
          </a:prstGeom>
          <a:solidFill>
            <a:srgbClr val="E5F6F9"/>
          </a:solidFill>
          <a:ln w="12700">
            <a:solidFill>
              <a:srgbClr val="C5DCE3"/>
            </a:solidFill>
            <a:prstDash val="solid"/>
          </a:ln>
        </p:spPr>
      </p:sp>
      <p:sp>
        <p:nvSpPr>
          <p:cNvPr id="20" name="Text 18"/>
          <p:cNvSpPr/>
          <p:nvPr/>
        </p:nvSpPr>
        <p:spPr>
          <a:xfrm>
            <a:off x="365760" y="4352544"/>
            <a:ext cx="8412480" cy="219456"/>
          </a:xfrm>
          <a:prstGeom prst="rect">
            <a:avLst/>
          </a:prstGeom>
          <a:noFill/>
          <a:ln/>
        </p:spPr>
        <p:txBody>
          <a:bodyPr wrap="square" lIns="0" tIns="0" rIns="0" bIns="0" rtlCol="0" anchor="ctr"/>
          <a:lstStyle/>
          <a:p>
            <a:pPr marL="0" indent="0">
              <a:buNone/>
            </a:pPr>
            <a:r>
              <a:rPr lang="en-US" sz="850" i="1" dirty="0">
                <a:solidFill>
                  <a:srgbClr val="136475"/>
                </a:solidFill>
              </a:rPr>
              <a:t>Siempre evaluar: ausencia de efecto de masa significativo y desviación de línea media antes de indicar EVT en ASPECTS 0–2.</a:t>
            </a:r>
            <a:endParaRPr lang="en-US" sz="850" dirty="0"/>
          </a:p>
        </p:txBody>
      </p:sp>
      <p:sp>
        <p:nvSpPr>
          <p:cNvPr id="21" name="Shape 19"/>
          <p:cNvSpPr/>
          <p:nvPr/>
        </p:nvSpPr>
        <p:spPr>
          <a:xfrm>
            <a:off x="0" y="4892040"/>
            <a:ext cx="9144000" cy="251460"/>
          </a:xfrm>
          <a:prstGeom prst="rect">
            <a:avLst/>
          </a:prstGeom>
          <a:solidFill>
            <a:srgbClr val="136475"/>
          </a:solidFill>
          <a:ln w="12700">
            <a:solidFill>
              <a:srgbClr val="136475"/>
            </a:solidFill>
            <a:prstDash val="solid"/>
          </a:ln>
        </p:spPr>
      </p:sp>
      <p:sp>
        <p:nvSpPr>
          <p:cNvPr id="22" name="Text 20"/>
          <p:cNvSpPr/>
          <p:nvPr/>
        </p:nvSpPr>
        <p:spPr>
          <a:xfrm>
            <a:off x="274320" y="4892040"/>
            <a:ext cx="5486400" cy="251460"/>
          </a:xfrm>
          <a:prstGeom prst="rect">
            <a:avLst/>
          </a:prstGeom>
          <a:noFill/>
          <a:ln/>
        </p:spPr>
        <p:txBody>
          <a:bodyPr wrap="square" lIns="0" tIns="0" rIns="0" bIns="0" rtlCol="0" anchor="ctr"/>
          <a:lstStyle/>
          <a:p>
            <a:pPr marL="0" indent="0">
              <a:buNone/>
            </a:pPr>
            <a:r>
              <a:rPr lang="en-US" sz="800" i="1" dirty="0">
                <a:solidFill>
                  <a:srgbClr val="FFFFFF"/>
                </a:solidFill>
              </a:rPr>
              <a:t>Guía AHA Stroke 2026</a:t>
            </a:r>
            <a:endParaRPr lang="en-US" sz="800" dirty="0"/>
          </a:p>
        </p:txBody>
      </p:sp>
      <p:sp>
        <p:nvSpPr>
          <p:cNvPr id="23" name="Text 21"/>
          <p:cNvSpPr/>
          <p:nvPr/>
        </p:nvSpPr>
        <p:spPr>
          <a:xfrm>
            <a:off x="6858000" y="4892040"/>
            <a:ext cx="2011680" cy="251460"/>
          </a:xfrm>
          <a:prstGeom prst="rect">
            <a:avLst/>
          </a:prstGeom>
          <a:noFill/>
          <a:ln/>
        </p:spPr>
        <p:txBody>
          <a:bodyPr wrap="square" lIns="0" tIns="0" rIns="0" bIns="0" rtlCol="0" anchor="ctr"/>
          <a:lstStyle/>
          <a:p>
            <a:pPr marL="0" indent="0" algn="r">
              <a:buNone/>
            </a:pPr>
            <a:r>
              <a:rPr lang="en-US" sz="800" b="1" dirty="0">
                <a:solidFill>
                  <a:srgbClr val="FFFFFF"/>
                </a:solidFill>
              </a:rPr>
              <a:t>Hospital Posadas</a:t>
            </a:r>
            <a:endParaRPr lang="en-US" sz="800" dirty="0"/>
          </a:p>
        </p:txBody>
      </p:sp>
      <p:pic>
        <p:nvPicPr>
          <p:cNvPr id="25" name="Imagen 24">
            <a:extLst>
              <a:ext uri="{FF2B5EF4-FFF2-40B4-BE49-F238E27FC236}">
                <a16:creationId xmlns:a16="http://schemas.microsoft.com/office/drawing/2014/main" id="{B9D8891E-FFB6-4C2B-A825-E6F651BA44EE}"/>
              </a:ext>
            </a:extLst>
          </p:cNvPr>
          <p:cNvPicPr>
            <a:picLocks noChangeAspect="1"/>
          </p:cNvPicPr>
          <p:nvPr/>
        </p:nvPicPr>
        <p:blipFill>
          <a:blip r:embed="rId3"/>
          <a:stretch>
            <a:fillRect/>
          </a:stretch>
        </p:blipFill>
        <p:spPr>
          <a:xfrm>
            <a:off x="4526281" y="3108960"/>
            <a:ext cx="4725059" cy="16956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FA0"/>
          </a:solidFill>
          <a:ln w="12700">
            <a:solidFill>
              <a:srgbClr val="1E8FA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800" b="1" dirty="0">
                <a:solidFill>
                  <a:srgbClr val="FFFFFF"/>
                </a:solidFill>
              </a:rPr>
              <a:t>Discapacidad previa ya no contraindica · Recs. 5 y 6</a:t>
            </a:r>
            <a:endParaRPr lang="en-US" sz="1800" dirty="0"/>
          </a:p>
        </p:txBody>
      </p:sp>
      <p:sp>
        <p:nvSpPr>
          <p:cNvPr id="4" name="Text 2"/>
          <p:cNvSpPr/>
          <p:nvPr/>
        </p:nvSpPr>
        <p:spPr>
          <a:xfrm>
            <a:off x="274320" y="768096"/>
            <a:ext cx="8595360" cy="274320"/>
          </a:xfrm>
          <a:prstGeom prst="rect">
            <a:avLst/>
          </a:prstGeom>
          <a:noFill/>
          <a:ln/>
        </p:spPr>
        <p:txBody>
          <a:bodyPr wrap="square" lIns="0" tIns="0" rIns="0" bIns="0" rtlCol="0" anchor="ctr"/>
          <a:lstStyle/>
          <a:p>
            <a:pPr marL="0" indent="0">
              <a:buNone/>
            </a:pPr>
            <a:r>
              <a:rPr lang="en-US" sz="1100" b="1" i="1" dirty="0">
                <a:solidFill>
                  <a:srgbClr val="136475"/>
                </a:solidFill>
              </a:rPr>
              <a:t>Nuevo objetivo declarado: 'reducir discapacidad acumulada' (accumulated disability)</a:t>
            </a:r>
            <a:endParaRPr lang="en-US" sz="1100" dirty="0"/>
          </a:p>
        </p:txBody>
      </p:sp>
      <p:sp>
        <p:nvSpPr>
          <p:cNvPr id="5" name="Shape 3"/>
          <p:cNvSpPr/>
          <p:nvPr/>
        </p:nvSpPr>
        <p:spPr>
          <a:xfrm>
            <a:off x="274320" y="1097280"/>
            <a:ext cx="502920" cy="502920"/>
          </a:xfrm>
          <a:prstGeom prst="rect">
            <a:avLst/>
          </a:prstGeom>
          <a:solidFill>
            <a:srgbClr val="2980B9"/>
          </a:solidFill>
          <a:ln w="12700">
            <a:solidFill>
              <a:srgbClr val="2980B9"/>
            </a:solidFill>
            <a:prstDash val="solid"/>
          </a:ln>
        </p:spPr>
      </p:sp>
      <p:sp>
        <p:nvSpPr>
          <p:cNvPr id="6" name="Text 4"/>
          <p:cNvSpPr/>
          <p:nvPr/>
        </p:nvSpPr>
        <p:spPr>
          <a:xfrm>
            <a:off x="274320" y="10972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2a</a:t>
            </a:r>
            <a:endParaRPr lang="en-US" sz="1300" dirty="0"/>
          </a:p>
        </p:txBody>
      </p:sp>
      <p:sp>
        <p:nvSpPr>
          <p:cNvPr id="7" name="Shape 5"/>
          <p:cNvSpPr/>
          <p:nvPr/>
        </p:nvSpPr>
        <p:spPr>
          <a:xfrm>
            <a:off x="274320" y="1618488"/>
            <a:ext cx="502920" cy="292608"/>
          </a:xfrm>
          <a:prstGeom prst="rect">
            <a:avLst/>
          </a:prstGeom>
          <a:solidFill>
            <a:srgbClr val="2C3E50"/>
          </a:solidFill>
          <a:ln w="12700">
            <a:solidFill>
              <a:srgbClr val="2C3E50"/>
            </a:solidFill>
            <a:prstDash val="solid"/>
          </a:ln>
        </p:spPr>
      </p:sp>
      <p:sp>
        <p:nvSpPr>
          <p:cNvPr id="8" name="Text 6"/>
          <p:cNvSpPr/>
          <p:nvPr/>
        </p:nvSpPr>
        <p:spPr>
          <a:xfrm>
            <a:off x="274320" y="1618488"/>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B-NR</a:t>
            </a:r>
            <a:endParaRPr lang="en-US" sz="800" dirty="0"/>
          </a:p>
        </p:txBody>
      </p:sp>
      <p:sp>
        <p:nvSpPr>
          <p:cNvPr id="9" name="Shape 7"/>
          <p:cNvSpPr/>
          <p:nvPr/>
        </p:nvSpPr>
        <p:spPr>
          <a:xfrm>
            <a:off x="914400" y="1097280"/>
            <a:ext cx="7955280" cy="914400"/>
          </a:xfrm>
          <a:prstGeom prst="rect">
            <a:avLst/>
          </a:prstGeom>
          <a:solidFill>
            <a:srgbClr val="E5F6F9"/>
          </a:solidFill>
          <a:ln w="19050">
            <a:solidFill>
              <a:srgbClr val="1E8FA0"/>
            </a:solidFill>
            <a:prstDash val="solid"/>
          </a:ln>
        </p:spPr>
      </p:sp>
      <p:sp>
        <p:nvSpPr>
          <p:cNvPr id="10" name="Text 8"/>
          <p:cNvSpPr/>
          <p:nvPr/>
        </p:nvSpPr>
        <p:spPr>
          <a:xfrm>
            <a:off x="960120" y="1097280"/>
            <a:ext cx="7772400" cy="201168"/>
          </a:xfrm>
          <a:prstGeom prst="rect">
            <a:avLst/>
          </a:prstGeom>
          <a:noFill/>
          <a:ln/>
        </p:spPr>
        <p:txBody>
          <a:bodyPr wrap="square" lIns="25400" tIns="63500" rIns="63500" bIns="0" rtlCol="0" anchor="ctr"/>
          <a:lstStyle/>
          <a:p>
            <a:pPr marL="0" indent="0">
              <a:buNone/>
            </a:pPr>
            <a:r>
              <a:rPr lang="en-US" sz="950" b="1" dirty="0">
                <a:solidFill>
                  <a:srgbClr val="136475"/>
                </a:solidFill>
              </a:rPr>
              <a:t>Rec. 5 — mRS previo = 2 (discapacidad leve)</a:t>
            </a:r>
            <a:endParaRPr lang="en-US" sz="950" dirty="0"/>
          </a:p>
        </p:txBody>
      </p:sp>
      <p:sp>
        <p:nvSpPr>
          <p:cNvPr id="11" name="Text 9"/>
          <p:cNvSpPr/>
          <p:nvPr/>
        </p:nvSpPr>
        <p:spPr>
          <a:xfrm>
            <a:off x="960120" y="1298448"/>
            <a:ext cx="7772400" cy="713232"/>
          </a:xfrm>
          <a:prstGeom prst="rect">
            <a:avLst/>
          </a:prstGeom>
          <a:noFill/>
          <a:ln/>
        </p:spPr>
        <p:txBody>
          <a:bodyPr wrap="square" lIns="0" tIns="63500" rIns="63500" bIns="63500" rtlCol="0" anchor="t"/>
          <a:lstStyle/>
          <a:p>
            <a:pPr marL="0" indent="0">
              <a:buNone/>
            </a:pPr>
            <a:r>
              <a:rPr lang="en-US" sz="950" i="1" dirty="0">
                <a:solidFill>
                  <a:srgbClr val="1C2833"/>
                </a:solidFill>
              </a:rPr>
              <a:t>"In patients with AIS from anterior circulation proximal LVO of the ICA or M1 presenting within 6 hours from onset of symptoms, with NIHSS score ≥6, and ASPECTS ≥6, who have a prestroke mRS score of 2, EVT is reasonable to improve functional clinical outcomes and reduce accumulated disability."</a:t>
            </a:r>
            <a:endParaRPr lang="en-US" sz="950" dirty="0"/>
          </a:p>
        </p:txBody>
      </p:sp>
      <p:sp>
        <p:nvSpPr>
          <p:cNvPr id="12" name="Shape 10"/>
          <p:cNvSpPr/>
          <p:nvPr/>
        </p:nvSpPr>
        <p:spPr>
          <a:xfrm>
            <a:off x="274320" y="2121408"/>
            <a:ext cx="502920" cy="502920"/>
          </a:xfrm>
          <a:prstGeom prst="rect">
            <a:avLst/>
          </a:prstGeom>
          <a:solidFill>
            <a:srgbClr val="E67E22"/>
          </a:solidFill>
          <a:ln w="12700">
            <a:solidFill>
              <a:srgbClr val="E67E22"/>
            </a:solidFill>
            <a:prstDash val="solid"/>
          </a:ln>
        </p:spPr>
      </p:sp>
      <p:sp>
        <p:nvSpPr>
          <p:cNvPr id="13" name="Text 11"/>
          <p:cNvSpPr/>
          <p:nvPr/>
        </p:nvSpPr>
        <p:spPr>
          <a:xfrm>
            <a:off x="274320" y="212140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2b</a:t>
            </a:r>
            <a:endParaRPr lang="en-US" sz="1300" dirty="0"/>
          </a:p>
        </p:txBody>
      </p:sp>
      <p:sp>
        <p:nvSpPr>
          <p:cNvPr id="14" name="Shape 12"/>
          <p:cNvSpPr/>
          <p:nvPr/>
        </p:nvSpPr>
        <p:spPr>
          <a:xfrm>
            <a:off x="274320" y="2642616"/>
            <a:ext cx="502920" cy="292608"/>
          </a:xfrm>
          <a:prstGeom prst="rect">
            <a:avLst/>
          </a:prstGeom>
          <a:solidFill>
            <a:srgbClr val="2C3E50"/>
          </a:solidFill>
          <a:ln w="12700">
            <a:solidFill>
              <a:srgbClr val="2C3E50"/>
            </a:solidFill>
            <a:prstDash val="solid"/>
          </a:ln>
        </p:spPr>
      </p:sp>
      <p:sp>
        <p:nvSpPr>
          <p:cNvPr id="15" name="Text 13"/>
          <p:cNvSpPr/>
          <p:nvPr/>
        </p:nvSpPr>
        <p:spPr>
          <a:xfrm>
            <a:off x="274320" y="2642616"/>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B-NR</a:t>
            </a:r>
            <a:endParaRPr lang="en-US" sz="800" dirty="0"/>
          </a:p>
        </p:txBody>
      </p:sp>
      <p:sp>
        <p:nvSpPr>
          <p:cNvPr id="16" name="Shape 14"/>
          <p:cNvSpPr/>
          <p:nvPr/>
        </p:nvSpPr>
        <p:spPr>
          <a:xfrm>
            <a:off x="914400" y="2121408"/>
            <a:ext cx="7955280" cy="914400"/>
          </a:xfrm>
          <a:prstGeom prst="rect">
            <a:avLst/>
          </a:prstGeom>
          <a:solidFill>
            <a:srgbClr val="FEF5E7"/>
          </a:solidFill>
          <a:ln w="19050">
            <a:solidFill>
              <a:srgbClr val="E67E22"/>
            </a:solidFill>
            <a:prstDash val="solid"/>
          </a:ln>
        </p:spPr>
      </p:sp>
      <p:sp>
        <p:nvSpPr>
          <p:cNvPr id="17" name="Text 15"/>
          <p:cNvSpPr/>
          <p:nvPr/>
        </p:nvSpPr>
        <p:spPr>
          <a:xfrm>
            <a:off x="960120" y="2121408"/>
            <a:ext cx="7772400" cy="201168"/>
          </a:xfrm>
          <a:prstGeom prst="rect">
            <a:avLst/>
          </a:prstGeom>
          <a:noFill/>
          <a:ln/>
        </p:spPr>
        <p:txBody>
          <a:bodyPr wrap="square" lIns="25400" tIns="63500" rIns="63500" bIns="0" rtlCol="0" anchor="ctr"/>
          <a:lstStyle/>
          <a:p>
            <a:pPr marL="0" indent="0">
              <a:buNone/>
            </a:pPr>
            <a:r>
              <a:rPr lang="en-US" sz="950" b="1" dirty="0">
                <a:solidFill>
                  <a:srgbClr val="E67E22"/>
                </a:solidFill>
              </a:rPr>
              <a:t>Rec. 6 — mRS previo 3–4 (discapacidad moderada)</a:t>
            </a:r>
            <a:endParaRPr lang="en-US" sz="950" dirty="0"/>
          </a:p>
        </p:txBody>
      </p:sp>
      <p:sp>
        <p:nvSpPr>
          <p:cNvPr id="18" name="Text 16"/>
          <p:cNvSpPr/>
          <p:nvPr/>
        </p:nvSpPr>
        <p:spPr>
          <a:xfrm>
            <a:off x="960120" y="2322576"/>
            <a:ext cx="7772400" cy="713232"/>
          </a:xfrm>
          <a:prstGeom prst="rect">
            <a:avLst/>
          </a:prstGeom>
          <a:noFill/>
          <a:ln/>
        </p:spPr>
        <p:txBody>
          <a:bodyPr wrap="square" lIns="0" tIns="63500" rIns="63500" bIns="63500" rtlCol="0" anchor="t"/>
          <a:lstStyle/>
          <a:p>
            <a:pPr marL="0" indent="0">
              <a:buNone/>
            </a:pPr>
            <a:r>
              <a:rPr lang="en-US" sz="950" i="1" dirty="0">
                <a:solidFill>
                  <a:srgbClr val="1C2833"/>
                </a:solidFill>
              </a:rPr>
              <a:t>"In patients with AIS from anterior circulation proximal LVO of the ICA or M1 presenting within 6 hours from onset of symptoms, with NIHSS score ≥6, and ASPECTS of ≥6, who have a prestroke mRS score of 3 to 4, EVT might be reasonable to improve functional clinical outcomes and reduce accumulated disability."</a:t>
            </a:r>
            <a:endParaRPr lang="en-US" sz="950" dirty="0"/>
          </a:p>
        </p:txBody>
      </p:sp>
      <p:sp>
        <p:nvSpPr>
          <p:cNvPr id="19" name="Shape 17"/>
          <p:cNvSpPr/>
          <p:nvPr/>
        </p:nvSpPr>
        <p:spPr>
          <a:xfrm>
            <a:off x="274320" y="3145536"/>
            <a:ext cx="2743200" cy="1188720"/>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20" name="Shape 18"/>
          <p:cNvSpPr/>
          <p:nvPr/>
        </p:nvSpPr>
        <p:spPr>
          <a:xfrm>
            <a:off x="274320" y="3145536"/>
            <a:ext cx="2743200" cy="256032"/>
          </a:xfrm>
          <a:prstGeom prst="rect">
            <a:avLst/>
          </a:prstGeom>
          <a:solidFill>
            <a:srgbClr val="2980B9"/>
          </a:solidFill>
          <a:ln w="12700">
            <a:solidFill>
              <a:srgbClr val="2980B9"/>
            </a:solidFill>
            <a:prstDash val="solid"/>
          </a:ln>
        </p:spPr>
      </p:sp>
      <p:sp>
        <p:nvSpPr>
          <p:cNvPr id="21" name="Text 19"/>
          <p:cNvSpPr/>
          <p:nvPr/>
        </p:nvSpPr>
        <p:spPr>
          <a:xfrm>
            <a:off x="274320" y="3145536"/>
            <a:ext cx="2743200" cy="256032"/>
          </a:xfrm>
          <a:prstGeom prst="rect">
            <a:avLst/>
          </a:prstGeom>
          <a:noFill/>
          <a:ln/>
        </p:spPr>
        <p:txBody>
          <a:bodyPr wrap="square" lIns="0" tIns="0" rIns="0" bIns="0" rtlCol="0" anchor="ctr"/>
          <a:lstStyle/>
          <a:p>
            <a:pPr marL="0" indent="0" algn="ctr">
              <a:buNone/>
            </a:pPr>
            <a:r>
              <a:rPr lang="en-US" sz="950" b="1" dirty="0">
                <a:solidFill>
                  <a:srgbClr val="FFFFFF"/>
                </a:solidFill>
              </a:rPr>
              <a:t>mRS 2</a:t>
            </a:r>
            <a:endParaRPr lang="en-US" sz="950" dirty="0"/>
          </a:p>
        </p:txBody>
      </p:sp>
      <p:sp>
        <p:nvSpPr>
          <p:cNvPr id="22" name="Text 20"/>
          <p:cNvSpPr/>
          <p:nvPr/>
        </p:nvSpPr>
        <p:spPr>
          <a:xfrm>
            <a:off x="365760" y="3419856"/>
            <a:ext cx="2560320" cy="896112"/>
          </a:xfrm>
          <a:prstGeom prst="rect">
            <a:avLst/>
          </a:prstGeom>
          <a:noFill/>
          <a:ln/>
        </p:spPr>
        <p:txBody>
          <a:bodyPr wrap="square" lIns="0" tIns="0" rIns="0" bIns="0" rtlCol="0" anchor="t"/>
          <a:lstStyle/>
          <a:p>
            <a:pPr marL="0" indent="0">
              <a:buNone/>
            </a:pPr>
            <a:r>
              <a:rPr lang="en-US" sz="900" dirty="0">
                <a:solidFill>
                  <a:srgbClr val="1C2833"/>
                </a:solidFill>
              </a:rPr>
              <a:t>HERMES meta-análisis (n=1764)</a:t>
            </a:r>
            <a:endParaRPr lang="en-US" sz="900" dirty="0"/>
          </a:p>
          <a:p>
            <a:pPr marL="0" indent="0">
              <a:buNone/>
            </a:pPr>
            <a:r>
              <a:rPr lang="en-US" sz="900" dirty="0">
                <a:solidFill>
                  <a:srgbClr val="1C2833"/>
                </a:solidFill>
              </a:rPr>
              <a:t>cOR 2.08 [1.22–3.55]</a:t>
            </a:r>
            <a:endParaRPr lang="en-US" sz="900" dirty="0"/>
          </a:p>
          <a:p>
            <a:pPr marL="0" indent="0">
              <a:buNone/>
            </a:pPr>
            <a:r>
              <a:rPr lang="en-US" sz="900" dirty="0">
                <a:solidFill>
                  <a:srgbClr val="1C2833"/>
                </a:solidFill>
              </a:rPr>
              <a:t>→ Beneficio significativo</a:t>
            </a:r>
            <a:endParaRPr lang="en-US" sz="900" dirty="0"/>
          </a:p>
        </p:txBody>
      </p:sp>
      <p:sp>
        <p:nvSpPr>
          <p:cNvPr id="23" name="Shape 21"/>
          <p:cNvSpPr/>
          <p:nvPr/>
        </p:nvSpPr>
        <p:spPr>
          <a:xfrm>
            <a:off x="3154680" y="3145536"/>
            <a:ext cx="2743200" cy="1188720"/>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24" name="Shape 22"/>
          <p:cNvSpPr/>
          <p:nvPr/>
        </p:nvSpPr>
        <p:spPr>
          <a:xfrm>
            <a:off x="3154680" y="3145536"/>
            <a:ext cx="2743200" cy="256032"/>
          </a:xfrm>
          <a:prstGeom prst="rect">
            <a:avLst/>
          </a:prstGeom>
          <a:solidFill>
            <a:srgbClr val="E67E22"/>
          </a:solidFill>
          <a:ln w="12700">
            <a:solidFill>
              <a:srgbClr val="E67E22"/>
            </a:solidFill>
            <a:prstDash val="solid"/>
          </a:ln>
        </p:spPr>
      </p:sp>
      <p:sp>
        <p:nvSpPr>
          <p:cNvPr id="25" name="Text 23"/>
          <p:cNvSpPr/>
          <p:nvPr/>
        </p:nvSpPr>
        <p:spPr>
          <a:xfrm>
            <a:off x="3154680" y="3145536"/>
            <a:ext cx="2743200" cy="256032"/>
          </a:xfrm>
          <a:prstGeom prst="rect">
            <a:avLst/>
          </a:prstGeom>
          <a:noFill/>
          <a:ln/>
        </p:spPr>
        <p:txBody>
          <a:bodyPr wrap="square" lIns="0" tIns="0" rIns="0" bIns="0" rtlCol="0" anchor="ctr"/>
          <a:lstStyle/>
          <a:p>
            <a:pPr marL="0" indent="0" algn="ctr">
              <a:buNone/>
            </a:pPr>
            <a:r>
              <a:rPr lang="en-US" sz="950" b="1" dirty="0">
                <a:solidFill>
                  <a:srgbClr val="FFFFFF"/>
                </a:solidFill>
              </a:rPr>
              <a:t>mRS 3–4</a:t>
            </a:r>
            <a:endParaRPr lang="en-US" sz="950" dirty="0"/>
          </a:p>
        </p:txBody>
      </p:sp>
      <p:sp>
        <p:nvSpPr>
          <p:cNvPr id="26" name="Text 24"/>
          <p:cNvSpPr/>
          <p:nvPr/>
        </p:nvSpPr>
        <p:spPr>
          <a:xfrm>
            <a:off x="3246120" y="3419856"/>
            <a:ext cx="2560320" cy="896112"/>
          </a:xfrm>
          <a:prstGeom prst="rect">
            <a:avLst/>
          </a:prstGeom>
          <a:noFill/>
          <a:ln/>
        </p:spPr>
        <p:txBody>
          <a:bodyPr wrap="square" lIns="0" tIns="0" rIns="0" bIns="0" rtlCol="0" anchor="t"/>
          <a:lstStyle/>
          <a:p>
            <a:pPr marL="0" indent="0">
              <a:buNone/>
            </a:pPr>
            <a:r>
              <a:rPr lang="en-US" sz="900" dirty="0">
                <a:solidFill>
                  <a:srgbClr val="1C2833"/>
                </a:solidFill>
              </a:rPr>
              <a:t>Cohorte nacional checa (n=1712)</a:t>
            </a:r>
            <a:endParaRPr lang="en-US" sz="900" dirty="0"/>
          </a:p>
          <a:p>
            <a:pPr marL="0" indent="0">
              <a:buNone/>
            </a:pPr>
            <a:r>
              <a:rPr lang="en-US" sz="900" dirty="0">
                <a:solidFill>
                  <a:srgbClr val="1C2833"/>
                </a:solidFill>
              </a:rPr>
              <a:t>32% retornan a mRS previo</a:t>
            </a:r>
            <a:endParaRPr lang="en-US" sz="900" dirty="0"/>
          </a:p>
          <a:p>
            <a:pPr marL="0" indent="0">
              <a:buNone/>
            </a:pPr>
            <a:r>
              <a:rPr lang="en-US" sz="900" dirty="0">
                <a:solidFill>
                  <a:srgbClr val="1C2833"/>
                </a:solidFill>
              </a:rPr>
              <a:t>Estudios observacionales + registros</a:t>
            </a:r>
            <a:endParaRPr lang="en-US" sz="900" dirty="0"/>
          </a:p>
        </p:txBody>
      </p:sp>
      <p:sp>
        <p:nvSpPr>
          <p:cNvPr id="27" name="Shape 25"/>
          <p:cNvSpPr/>
          <p:nvPr/>
        </p:nvSpPr>
        <p:spPr>
          <a:xfrm>
            <a:off x="6035040" y="3145536"/>
            <a:ext cx="2743200" cy="1188720"/>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28" name="Shape 26"/>
          <p:cNvSpPr/>
          <p:nvPr/>
        </p:nvSpPr>
        <p:spPr>
          <a:xfrm>
            <a:off x="6035040" y="3145536"/>
            <a:ext cx="2743200" cy="256032"/>
          </a:xfrm>
          <a:prstGeom prst="rect">
            <a:avLst/>
          </a:prstGeom>
          <a:solidFill>
            <a:srgbClr val="1E8FA0"/>
          </a:solidFill>
          <a:ln w="12700">
            <a:solidFill>
              <a:srgbClr val="1E8FA0"/>
            </a:solidFill>
            <a:prstDash val="solid"/>
          </a:ln>
        </p:spPr>
      </p:sp>
      <p:sp>
        <p:nvSpPr>
          <p:cNvPr id="29" name="Text 27"/>
          <p:cNvSpPr/>
          <p:nvPr/>
        </p:nvSpPr>
        <p:spPr>
          <a:xfrm>
            <a:off x="6035040" y="3145536"/>
            <a:ext cx="2743200" cy="256032"/>
          </a:xfrm>
          <a:prstGeom prst="rect">
            <a:avLst/>
          </a:prstGeom>
          <a:noFill/>
          <a:ln/>
        </p:spPr>
        <p:txBody>
          <a:bodyPr wrap="square" lIns="0" tIns="0" rIns="0" bIns="0" rtlCol="0" anchor="ctr"/>
          <a:lstStyle/>
          <a:p>
            <a:pPr marL="0" indent="0" algn="ctr">
              <a:buNone/>
            </a:pPr>
            <a:r>
              <a:rPr lang="en-US" sz="950" b="1" dirty="0">
                <a:solidFill>
                  <a:srgbClr val="FFFFFF"/>
                </a:solidFill>
              </a:rPr>
              <a:t>Clave práctica</a:t>
            </a:r>
            <a:endParaRPr lang="en-US" sz="950" dirty="0"/>
          </a:p>
        </p:txBody>
      </p:sp>
      <p:sp>
        <p:nvSpPr>
          <p:cNvPr id="30" name="Text 28"/>
          <p:cNvSpPr/>
          <p:nvPr/>
        </p:nvSpPr>
        <p:spPr>
          <a:xfrm>
            <a:off x="6126480" y="3419856"/>
            <a:ext cx="2560320" cy="896112"/>
          </a:xfrm>
          <a:prstGeom prst="rect">
            <a:avLst/>
          </a:prstGeom>
          <a:noFill/>
          <a:ln/>
        </p:spPr>
        <p:txBody>
          <a:bodyPr wrap="square" lIns="0" tIns="0" rIns="0" bIns="0" rtlCol="0" anchor="t"/>
          <a:lstStyle/>
          <a:p>
            <a:pPr marL="0" indent="0">
              <a:buNone/>
            </a:pPr>
            <a:r>
              <a:rPr lang="en-US" sz="900" dirty="0">
                <a:solidFill>
                  <a:srgbClr val="1C2833"/>
                </a:solidFill>
              </a:rPr>
              <a:t>La discapacidad previa no cambia la probabilidad de sICH ni el éxito de reperfusión</a:t>
            </a:r>
            <a:endParaRPr lang="en-US" sz="900" dirty="0"/>
          </a:p>
        </p:txBody>
      </p:sp>
      <p:sp>
        <p:nvSpPr>
          <p:cNvPr id="31" name="Shape 29"/>
          <p:cNvSpPr/>
          <p:nvPr/>
        </p:nvSpPr>
        <p:spPr>
          <a:xfrm>
            <a:off x="0" y="4892040"/>
            <a:ext cx="9144000" cy="251460"/>
          </a:xfrm>
          <a:prstGeom prst="rect">
            <a:avLst/>
          </a:prstGeom>
          <a:solidFill>
            <a:srgbClr val="136475"/>
          </a:solidFill>
          <a:ln w="12700">
            <a:solidFill>
              <a:srgbClr val="136475"/>
            </a:solidFill>
            <a:prstDash val="solid"/>
          </a:ln>
        </p:spPr>
      </p:sp>
      <p:sp>
        <p:nvSpPr>
          <p:cNvPr id="32" name="Text 30"/>
          <p:cNvSpPr/>
          <p:nvPr/>
        </p:nvSpPr>
        <p:spPr>
          <a:xfrm>
            <a:off x="274320" y="4892040"/>
            <a:ext cx="5486400" cy="251460"/>
          </a:xfrm>
          <a:prstGeom prst="rect">
            <a:avLst/>
          </a:prstGeom>
          <a:noFill/>
          <a:ln/>
        </p:spPr>
        <p:txBody>
          <a:bodyPr wrap="square" lIns="0" tIns="0" rIns="0" bIns="0" rtlCol="0" anchor="ctr"/>
          <a:lstStyle/>
          <a:p>
            <a:pPr marL="0" indent="0">
              <a:buNone/>
            </a:pPr>
            <a:r>
              <a:rPr lang="en-US" sz="800" i="1" dirty="0">
                <a:solidFill>
                  <a:srgbClr val="FFFFFF"/>
                </a:solidFill>
              </a:rPr>
              <a:t>Guía AHA Stroke 2026</a:t>
            </a:r>
            <a:endParaRPr lang="en-US" sz="800" dirty="0"/>
          </a:p>
        </p:txBody>
      </p:sp>
      <p:sp>
        <p:nvSpPr>
          <p:cNvPr id="33" name="Text 31"/>
          <p:cNvSpPr/>
          <p:nvPr/>
        </p:nvSpPr>
        <p:spPr>
          <a:xfrm>
            <a:off x="6858000" y="4892040"/>
            <a:ext cx="2011680" cy="251460"/>
          </a:xfrm>
          <a:prstGeom prst="rect">
            <a:avLst/>
          </a:prstGeom>
          <a:noFill/>
          <a:ln/>
        </p:spPr>
        <p:txBody>
          <a:bodyPr wrap="square" lIns="0" tIns="0" rIns="0" bIns="0" rtlCol="0" anchor="ctr"/>
          <a:lstStyle/>
          <a:p>
            <a:pPr marL="0" indent="0" algn="r">
              <a:buNone/>
            </a:pPr>
            <a:r>
              <a:rPr lang="en-US" sz="800" b="1" dirty="0">
                <a:solidFill>
                  <a:srgbClr val="FFFFFF"/>
                </a:solidFill>
              </a:rPr>
              <a:t>Hospital Posadas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FA0"/>
          </a:solidFill>
          <a:ln w="12700">
            <a:solidFill>
              <a:srgbClr val="1E8FA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800" b="1" dirty="0">
                <a:solidFill>
                  <a:srgbClr val="FFFFFF"/>
                </a:solidFill>
              </a:rPr>
              <a:t>4.7.3 Circulación posterior — Oclusión basilar</a:t>
            </a:r>
            <a:endParaRPr lang="en-US" sz="1800" dirty="0"/>
          </a:p>
        </p:txBody>
      </p:sp>
      <p:sp>
        <p:nvSpPr>
          <p:cNvPr id="4" name="Shape 2"/>
          <p:cNvSpPr/>
          <p:nvPr/>
        </p:nvSpPr>
        <p:spPr>
          <a:xfrm>
            <a:off x="274320" y="804672"/>
            <a:ext cx="502920" cy="502920"/>
          </a:xfrm>
          <a:prstGeom prst="rect">
            <a:avLst/>
          </a:prstGeom>
          <a:solidFill>
            <a:srgbClr val="1A9464"/>
          </a:solidFill>
          <a:ln w="12700">
            <a:solidFill>
              <a:srgbClr val="1A9464"/>
            </a:solidFill>
            <a:prstDash val="solid"/>
          </a:ln>
        </p:spPr>
      </p:sp>
      <p:sp>
        <p:nvSpPr>
          <p:cNvPr id="5" name="Text 3"/>
          <p:cNvSpPr/>
          <p:nvPr/>
        </p:nvSpPr>
        <p:spPr>
          <a:xfrm>
            <a:off x="274320" y="80467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Shape 4"/>
          <p:cNvSpPr/>
          <p:nvPr/>
        </p:nvSpPr>
        <p:spPr>
          <a:xfrm>
            <a:off x="274320" y="1325880"/>
            <a:ext cx="502920" cy="292608"/>
          </a:xfrm>
          <a:prstGeom prst="rect">
            <a:avLst/>
          </a:prstGeom>
          <a:solidFill>
            <a:srgbClr val="2C3E50"/>
          </a:solidFill>
          <a:ln w="12700">
            <a:solidFill>
              <a:srgbClr val="2C3E50"/>
            </a:solidFill>
            <a:prstDash val="solid"/>
          </a:ln>
        </p:spPr>
      </p:sp>
      <p:sp>
        <p:nvSpPr>
          <p:cNvPr id="7" name="Text 5"/>
          <p:cNvSpPr/>
          <p:nvPr/>
        </p:nvSpPr>
        <p:spPr>
          <a:xfrm>
            <a:off x="274320" y="1325880"/>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A</a:t>
            </a:r>
            <a:endParaRPr lang="en-US" sz="800" dirty="0"/>
          </a:p>
        </p:txBody>
      </p:sp>
      <p:sp>
        <p:nvSpPr>
          <p:cNvPr id="8" name="Shape 6"/>
          <p:cNvSpPr/>
          <p:nvPr/>
        </p:nvSpPr>
        <p:spPr>
          <a:xfrm>
            <a:off x="914400" y="804672"/>
            <a:ext cx="7955280" cy="932688"/>
          </a:xfrm>
          <a:prstGeom prst="rect">
            <a:avLst/>
          </a:prstGeom>
          <a:solidFill>
            <a:srgbClr val="E5F6F9"/>
          </a:solidFill>
          <a:ln w="19050">
            <a:solidFill>
              <a:srgbClr val="1E8FA0"/>
            </a:solidFill>
            <a:prstDash val="solid"/>
          </a:ln>
        </p:spPr>
      </p:sp>
      <p:sp>
        <p:nvSpPr>
          <p:cNvPr id="9" name="Text 7"/>
          <p:cNvSpPr/>
          <p:nvPr/>
        </p:nvSpPr>
        <p:spPr>
          <a:xfrm>
            <a:off x="960120" y="804672"/>
            <a:ext cx="7772400" cy="219456"/>
          </a:xfrm>
          <a:prstGeom prst="rect">
            <a:avLst/>
          </a:prstGeom>
          <a:noFill/>
          <a:ln/>
        </p:spPr>
        <p:txBody>
          <a:bodyPr wrap="square" lIns="25400" tIns="63500" rIns="63500" bIns="0" rtlCol="0" anchor="ctr"/>
          <a:lstStyle/>
          <a:p>
            <a:pPr marL="0" indent="0">
              <a:buNone/>
            </a:pPr>
            <a:r>
              <a:rPr lang="en-US" sz="950" b="1" dirty="0">
                <a:solidFill>
                  <a:srgbClr val="1A9464"/>
                </a:solidFill>
              </a:rPr>
              <a:t>Rec. 1 — NIHSS ≥10 · ★ Sube de 2a/C-LD (2019) → COR 1/A (2026)</a:t>
            </a:r>
            <a:endParaRPr lang="en-US" sz="950" dirty="0"/>
          </a:p>
        </p:txBody>
      </p:sp>
      <p:sp>
        <p:nvSpPr>
          <p:cNvPr id="10" name="Text 8"/>
          <p:cNvSpPr/>
          <p:nvPr/>
        </p:nvSpPr>
        <p:spPr>
          <a:xfrm>
            <a:off x="960120" y="1024128"/>
            <a:ext cx="7772400" cy="713232"/>
          </a:xfrm>
          <a:prstGeom prst="rect">
            <a:avLst/>
          </a:prstGeom>
          <a:noFill/>
          <a:ln/>
        </p:spPr>
        <p:txBody>
          <a:bodyPr wrap="square" lIns="0" tIns="63500" rIns="63500" bIns="63500" rtlCol="0" anchor="t"/>
          <a:lstStyle/>
          <a:p>
            <a:pPr marL="0" indent="0">
              <a:buNone/>
            </a:pPr>
            <a:r>
              <a:rPr lang="en-US" sz="950" i="1" dirty="0">
                <a:solidFill>
                  <a:srgbClr val="1C2833"/>
                </a:solidFill>
              </a:rPr>
              <a:t>"In patients with AIS, with basilar artery occlusion, a baseline mRS score of 0 to 1, NIHSS score ≥10 at presentation, and PC-ASPECTS ≥6 (mild ischemic damage), EVT within 24 hours from onset of symptoms is recommended to achieve better functional outcome and reduce mortality."</a:t>
            </a:r>
            <a:endParaRPr lang="en-US" sz="950" dirty="0"/>
          </a:p>
        </p:txBody>
      </p:sp>
      <p:sp>
        <p:nvSpPr>
          <p:cNvPr id="11" name="Shape 9"/>
          <p:cNvSpPr/>
          <p:nvPr/>
        </p:nvSpPr>
        <p:spPr>
          <a:xfrm>
            <a:off x="274320" y="1847088"/>
            <a:ext cx="502920" cy="502920"/>
          </a:xfrm>
          <a:prstGeom prst="rect">
            <a:avLst/>
          </a:prstGeom>
          <a:solidFill>
            <a:srgbClr val="E67E22"/>
          </a:solidFill>
          <a:ln w="12700">
            <a:solidFill>
              <a:srgbClr val="E67E22"/>
            </a:solidFill>
            <a:prstDash val="solid"/>
          </a:ln>
        </p:spPr>
      </p:sp>
      <p:sp>
        <p:nvSpPr>
          <p:cNvPr id="12" name="Text 10"/>
          <p:cNvSpPr/>
          <p:nvPr/>
        </p:nvSpPr>
        <p:spPr>
          <a:xfrm>
            <a:off x="274320" y="184708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2b</a:t>
            </a:r>
            <a:endParaRPr lang="en-US" sz="1300" dirty="0"/>
          </a:p>
        </p:txBody>
      </p:sp>
      <p:sp>
        <p:nvSpPr>
          <p:cNvPr id="13" name="Shape 11"/>
          <p:cNvSpPr/>
          <p:nvPr/>
        </p:nvSpPr>
        <p:spPr>
          <a:xfrm>
            <a:off x="274320" y="2368296"/>
            <a:ext cx="502920" cy="292608"/>
          </a:xfrm>
          <a:prstGeom prst="rect">
            <a:avLst/>
          </a:prstGeom>
          <a:solidFill>
            <a:srgbClr val="2C3E50"/>
          </a:solidFill>
          <a:ln w="12700">
            <a:solidFill>
              <a:srgbClr val="2C3E50"/>
            </a:solidFill>
            <a:prstDash val="solid"/>
          </a:ln>
        </p:spPr>
      </p:sp>
      <p:sp>
        <p:nvSpPr>
          <p:cNvPr id="14" name="Text 12"/>
          <p:cNvSpPr/>
          <p:nvPr/>
        </p:nvSpPr>
        <p:spPr>
          <a:xfrm>
            <a:off x="274320" y="2368296"/>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B-R</a:t>
            </a:r>
            <a:endParaRPr lang="en-US" sz="800" dirty="0"/>
          </a:p>
        </p:txBody>
      </p:sp>
      <p:sp>
        <p:nvSpPr>
          <p:cNvPr id="15" name="Shape 13"/>
          <p:cNvSpPr/>
          <p:nvPr/>
        </p:nvSpPr>
        <p:spPr>
          <a:xfrm>
            <a:off x="914400" y="1847088"/>
            <a:ext cx="7955280" cy="822960"/>
          </a:xfrm>
          <a:prstGeom prst="rect">
            <a:avLst/>
          </a:prstGeom>
          <a:solidFill>
            <a:srgbClr val="FEF5E7"/>
          </a:solidFill>
          <a:ln w="19050">
            <a:solidFill>
              <a:srgbClr val="E67E22"/>
            </a:solidFill>
            <a:prstDash val="solid"/>
          </a:ln>
        </p:spPr>
      </p:sp>
      <p:sp>
        <p:nvSpPr>
          <p:cNvPr id="16" name="Text 14"/>
          <p:cNvSpPr/>
          <p:nvPr/>
        </p:nvSpPr>
        <p:spPr>
          <a:xfrm>
            <a:off x="960120" y="1847088"/>
            <a:ext cx="7772400" cy="201168"/>
          </a:xfrm>
          <a:prstGeom prst="rect">
            <a:avLst/>
          </a:prstGeom>
          <a:noFill/>
          <a:ln/>
        </p:spPr>
        <p:txBody>
          <a:bodyPr wrap="square" lIns="25400" tIns="63500" rIns="63500" bIns="0" rtlCol="0" anchor="ctr"/>
          <a:lstStyle/>
          <a:p>
            <a:pPr marL="0" indent="0">
              <a:buNone/>
            </a:pPr>
            <a:r>
              <a:rPr lang="en-US" sz="950" b="1" dirty="0">
                <a:solidFill>
                  <a:srgbClr val="E67E22"/>
                </a:solidFill>
              </a:rPr>
              <a:t>Rec. 2 — NIHSS 6–9 (evidencia limitada)</a:t>
            </a:r>
            <a:endParaRPr lang="en-US" sz="950" dirty="0"/>
          </a:p>
        </p:txBody>
      </p:sp>
      <p:sp>
        <p:nvSpPr>
          <p:cNvPr id="17" name="Text 15"/>
          <p:cNvSpPr/>
          <p:nvPr/>
        </p:nvSpPr>
        <p:spPr>
          <a:xfrm>
            <a:off x="960120" y="2048256"/>
            <a:ext cx="7772400" cy="621792"/>
          </a:xfrm>
          <a:prstGeom prst="rect">
            <a:avLst/>
          </a:prstGeom>
          <a:noFill/>
          <a:ln/>
        </p:spPr>
        <p:txBody>
          <a:bodyPr wrap="square" lIns="0" tIns="63500" rIns="63500" bIns="63500" rtlCol="0" anchor="t"/>
          <a:lstStyle/>
          <a:p>
            <a:pPr marL="0" indent="0">
              <a:buNone/>
            </a:pPr>
            <a:r>
              <a:rPr lang="en-US" sz="950" i="1" dirty="0">
                <a:solidFill>
                  <a:srgbClr val="1C2833"/>
                </a:solidFill>
              </a:rPr>
              <a:t>"In patients with AIS, with basilar artery occlusion, a baseline mRS score of 0 to 1, NIHSS score 6 to 9 at presentation, and PC-ASPECTS ≥6 (mild ischemic damage) the effectiveness of EVT within 24 hours to improve functional outcomes and reduce mortality is not well established."</a:t>
            </a:r>
            <a:endParaRPr lang="en-US" sz="950" dirty="0"/>
          </a:p>
        </p:txBody>
      </p:sp>
      <p:sp>
        <p:nvSpPr>
          <p:cNvPr id="18" name="Shape 16"/>
          <p:cNvSpPr/>
          <p:nvPr/>
        </p:nvSpPr>
        <p:spPr>
          <a:xfrm>
            <a:off x="274320" y="2798064"/>
            <a:ext cx="2743200" cy="1417320"/>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19" name="Shape 17"/>
          <p:cNvSpPr/>
          <p:nvPr/>
        </p:nvSpPr>
        <p:spPr>
          <a:xfrm>
            <a:off x="274320" y="2798064"/>
            <a:ext cx="2743200" cy="256032"/>
          </a:xfrm>
          <a:prstGeom prst="rect">
            <a:avLst/>
          </a:prstGeom>
          <a:solidFill>
            <a:srgbClr val="1A9464"/>
          </a:solidFill>
          <a:ln w="12700">
            <a:solidFill>
              <a:srgbClr val="1A9464"/>
            </a:solidFill>
            <a:prstDash val="solid"/>
          </a:ln>
        </p:spPr>
      </p:sp>
      <p:sp>
        <p:nvSpPr>
          <p:cNvPr id="20" name="Text 18"/>
          <p:cNvSpPr/>
          <p:nvPr/>
        </p:nvSpPr>
        <p:spPr>
          <a:xfrm>
            <a:off x="274320" y="2798064"/>
            <a:ext cx="2743200" cy="256032"/>
          </a:xfrm>
          <a:prstGeom prst="rect">
            <a:avLst/>
          </a:prstGeom>
          <a:noFill/>
          <a:ln/>
        </p:spPr>
        <p:txBody>
          <a:bodyPr wrap="square" lIns="0" tIns="0" rIns="0" bIns="0" rtlCol="0" anchor="ctr"/>
          <a:lstStyle/>
          <a:p>
            <a:pPr marL="0" indent="0" algn="ctr">
              <a:buNone/>
            </a:pPr>
            <a:r>
              <a:rPr lang="en-US" sz="900" b="1" dirty="0">
                <a:solidFill>
                  <a:srgbClr val="FFFFFF"/>
                </a:solidFill>
              </a:rPr>
              <a:t>ATTENTION (China)</a:t>
            </a:r>
            <a:endParaRPr lang="en-US" sz="900" dirty="0"/>
          </a:p>
        </p:txBody>
      </p:sp>
      <p:sp>
        <p:nvSpPr>
          <p:cNvPr id="21" name="Text 19"/>
          <p:cNvSpPr/>
          <p:nvPr/>
        </p:nvSpPr>
        <p:spPr>
          <a:xfrm>
            <a:off x="274320" y="3072384"/>
            <a:ext cx="2743200" cy="201168"/>
          </a:xfrm>
          <a:prstGeom prst="rect">
            <a:avLst/>
          </a:prstGeom>
          <a:noFill/>
          <a:ln/>
        </p:spPr>
        <p:txBody>
          <a:bodyPr wrap="square" lIns="0" tIns="0" rIns="0" bIns="0" rtlCol="0" anchor="ctr"/>
          <a:lstStyle/>
          <a:p>
            <a:pPr marL="0" indent="0" algn="ctr">
              <a:buNone/>
            </a:pPr>
            <a:r>
              <a:rPr lang="en-US" sz="1000" b="1" dirty="0">
                <a:solidFill>
                  <a:srgbClr val="4A5568"/>
                </a:solidFill>
              </a:rPr>
              <a:t>n = 340</a:t>
            </a:r>
            <a:endParaRPr lang="en-US" sz="1000" dirty="0"/>
          </a:p>
        </p:txBody>
      </p:sp>
      <p:sp>
        <p:nvSpPr>
          <p:cNvPr id="22" name="Text 20"/>
          <p:cNvSpPr/>
          <p:nvPr/>
        </p:nvSpPr>
        <p:spPr>
          <a:xfrm>
            <a:off x="365760" y="3273552"/>
            <a:ext cx="2560320" cy="914400"/>
          </a:xfrm>
          <a:prstGeom prst="rect">
            <a:avLst/>
          </a:prstGeom>
          <a:noFill/>
          <a:ln/>
        </p:spPr>
        <p:txBody>
          <a:bodyPr wrap="square" lIns="0" tIns="0" rIns="0" bIns="0" rtlCol="0" anchor="t"/>
          <a:lstStyle/>
          <a:p>
            <a:pPr marL="0" indent="0">
              <a:buNone/>
            </a:pPr>
            <a:r>
              <a:rPr lang="en-US" sz="900" dirty="0">
                <a:solidFill>
                  <a:srgbClr val="1C2833"/>
                </a:solidFill>
              </a:rPr>
              <a:t>46% vs 23% mRS 0–3</a:t>
            </a:r>
            <a:endParaRPr lang="en-US" sz="900" dirty="0"/>
          </a:p>
          <a:p>
            <a:pPr marL="0" indent="0">
              <a:buNone/>
            </a:pPr>
            <a:r>
              <a:rPr lang="en-US" sz="900" dirty="0">
                <a:solidFill>
                  <a:srgbClr val="1C2833"/>
                </a:solidFill>
              </a:rPr>
              <a:t>Superior con EVT · Detenido temprano</a:t>
            </a:r>
            <a:endParaRPr lang="en-US" sz="900" dirty="0"/>
          </a:p>
        </p:txBody>
      </p:sp>
      <p:sp>
        <p:nvSpPr>
          <p:cNvPr id="23" name="Shape 21"/>
          <p:cNvSpPr/>
          <p:nvPr/>
        </p:nvSpPr>
        <p:spPr>
          <a:xfrm>
            <a:off x="3154680" y="2798064"/>
            <a:ext cx="2743200" cy="1417320"/>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24" name="Shape 22"/>
          <p:cNvSpPr/>
          <p:nvPr/>
        </p:nvSpPr>
        <p:spPr>
          <a:xfrm>
            <a:off x="3154680" y="2798064"/>
            <a:ext cx="2743200" cy="256032"/>
          </a:xfrm>
          <a:prstGeom prst="rect">
            <a:avLst/>
          </a:prstGeom>
          <a:solidFill>
            <a:srgbClr val="1A9464"/>
          </a:solidFill>
          <a:ln w="12700">
            <a:solidFill>
              <a:srgbClr val="1A9464"/>
            </a:solidFill>
            <a:prstDash val="solid"/>
          </a:ln>
        </p:spPr>
      </p:sp>
      <p:sp>
        <p:nvSpPr>
          <p:cNvPr id="25" name="Text 23"/>
          <p:cNvSpPr/>
          <p:nvPr/>
        </p:nvSpPr>
        <p:spPr>
          <a:xfrm>
            <a:off x="3154680" y="2798064"/>
            <a:ext cx="2743200" cy="256032"/>
          </a:xfrm>
          <a:prstGeom prst="rect">
            <a:avLst/>
          </a:prstGeom>
          <a:noFill/>
          <a:ln/>
        </p:spPr>
        <p:txBody>
          <a:bodyPr wrap="square" lIns="0" tIns="0" rIns="0" bIns="0" rtlCol="0" anchor="ctr"/>
          <a:lstStyle/>
          <a:p>
            <a:pPr marL="0" indent="0" algn="ctr">
              <a:buNone/>
            </a:pPr>
            <a:r>
              <a:rPr lang="en-US" sz="900" b="1" dirty="0">
                <a:solidFill>
                  <a:srgbClr val="FFFFFF"/>
                </a:solidFill>
              </a:rPr>
              <a:t>BAOCHE (China)</a:t>
            </a:r>
            <a:endParaRPr lang="en-US" sz="900" dirty="0"/>
          </a:p>
        </p:txBody>
      </p:sp>
      <p:sp>
        <p:nvSpPr>
          <p:cNvPr id="26" name="Text 24"/>
          <p:cNvSpPr/>
          <p:nvPr/>
        </p:nvSpPr>
        <p:spPr>
          <a:xfrm>
            <a:off x="3154680" y="3072384"/>
            <a:ext cx="2743200" cy="201168"/>
          </a:xfrm>
          <a:prstGeom prst="rect">
            <a:avLst/>
          </a:prstGeom>
          <a:noFill/>
          <a:ln/>
        </p:spPr>
        <p:txBody>
          <a:bodyPr wrap="square" lIns="0" tIns="0" rIns="0" bIns="0" rtlCol="0" anchor="ctr"/>
          <a:lstStyle/>
          <a:p>
            <a:pPr marL="0" indent="0" algn="ctr">
              <a:buNone/>
            </a:pPr>
            <a:r>
              <a:rPr lang="en-US" sz="1000" b="1" dirty="0">
                <a:solidFill>
                  <a:srgbClr val="4A5568"/>
                </a:solidFill>
              </a:rPr>
              <a:t>n = 217</a:t>
            </a:r>
            <a:endParaRPr lang="en-US" sz="1000" dirty="0"/>
          </a:p>
        </p:txBody>
      </p:sp>
      <p:sp>
        <p:nvSpPr>
          <p:cNvPr id="27" name="Text 25"/>
          <p:cNvSpPr/>
          <p:nvPr/>
        </p:nvSpPr>
        <p:spPr>
          <a:xfrm>
            <a:off x="3246120" y="3273552"/>
            <a:ext cx="2560320" cy="914400"/>
          </a:xfrm>
          <a:prstGeom prst="rect">
            <a:avLst/>
          </a:prstGeom>
          <a:noFill/>
          <a:ln/>
        </p:spPr>
        <p:txBody>
          <a:bodyPr wrap="square" lIns="0" tIns="0" rIns="0" bIns="0" rtlCol="0" anchor="t"/>
          <a:lstStyle/>
          <a:p>
            <a:pPr marL="0" indent="0">
              <a:buNone/>
            </a:pPr>
            <a:r>
              <a:rPr lang="en-US" sz="900" dirty="0">
                <a:solidFill>
                  <a:srgbClr val="1C2833"/>
                </a:solidFill>
              </a:rPr>
              <a:t>46% vs 24% mRS 0–3</a:t>
            </a:r>
            <a:endParaRPr lang="en-US" sz="900" dirty="0"/>
          </a:p>
          <a:p>
            <a:pPr marL="0" indent="0">
              <a:buNone/>
            </a:pPr>
            <a:r>
              <a:rPr lang="en-US" sz="900" dirty="0">
                <a:solidFill>
                  <a:srgbClr val="1C2833"/>
                </a:solidFill>
              </a:rPr>
              <a:t>PCASPECTS ≥6 · Hasta 24 h</a:t>
            </a:r>
            <a:endParaRPr lang="en-US" sz="900" dirty="0"/>
          </a:p>
        </p:txBody>
      </p:sp>
      <p:sp>
        <p:nvSpPr>
          <p:cNvPr id="28" name="Shape 26"/>
          <p:cNvSpPr/>
          <p:nvPr/>
        </p:nvSpPr>
        <p:spPr>
          <a:xfrm>
            <a:off x="6035040" y="2798064"/>
            <a:ext cx="2743200" cy="1417320"/>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29" name="Shape 27"/>
          <p:cNvSpPr/>
          <p:nvPr/>
        </p:nvSpPr>
        <p:spPr>
          <a:xfrm>
            <a:off x="6035040" y="2798064"/>
            <a:ext cx="2743200" cy="256032"/>
          </a:xfrm>
          <a:prstGeom prst="rect">
            <a:avLst/>
          </a:prstGeom>
          <a:solidFill>
            <a:srgbClr val="4A5568"/>
          </a:solidFill>
          <a:ln w="12700">
            <a:solidFill>
              <a:srgbClr val="4A5568"/>
            </a:solidFill>
            <a:prstDash val="solid"/>
          </a:ln>
        </p:spPr>
      </p:sp>
      <p:sp>
        <p:nvSpPr>
          <p:cNvPr id="30" name="Text 28"/>
          <p:cNvSpPr/>
          <p:nvPr/>
        </p:nvSpPr>
        <p:spPr>
          <a:xfrm>
            <a:off x="6035040" y="2798064"/>
            <a:ext cx="2743200" cy="256032"/>
          </a:xfrm>
          <a:prstGeom prst="rect">
            <a:avLst/>
          </a:prstGeom>
          <a:noFill/>
          <a:ln/>
        </p:spPr>
        <p:txBody>
          <a:bodyPr wrap="square" lIns="0" tIns="0" rIns="0" bIns="0" rtlCol="0" anchor="ctr"/>
          <a:lstStyle/>
          <a:p>
            <a:pPr marL="0" indent="0" algn="ctr">
              <a:buNone/>
            </a:pPr>
            <a:r>
              <a:rPr lang="en-US" sz="900" b="1" dirty="0">
                <a:solidFill>
                  <a:srgbClr val="FFFFFF"/>
                </a:solidFill>
              </a:rPr>
              <a:t>BEST / BASICS</a:t>
            </a:r>
            <a:endParaRPr lang="en-US" sz="900" dirty="0"/>
          </a:p>
        </p:txBody>
      </p:sp>
      <p:sp>
        <p:nvSpPr>
          <p:cNvPr id="31" name="Text 29"/>
          <p:cNvSpPr/>
          <p:nvPr/>
        </p:nvSpPr>
        <p:spPr>
          <a:xfrm>
            <a:off x="6126480" y="3090672"/>
            <a:ext cx="2560320" cy="914400"/>
          </a:xfrm>
          <a:prstGeom prst="rect">
            <a:avLst/>
          </a:prstGeom>
          <a:noFill/>
          <a:ln/>
        </p:spPr>
        <p:txBody>
          <a:bodyPr wrap="square" lIns="0" tIns="0" rIns="0" bIns="0" rtlCol="0" anchor="t"/>
          <a:lstStyle/>
          <a:p>
            <a:pPr marL="0" indent="0">
              <a:buNone/>
            </a:pPr>
            <a:r>
              <a:rPr lang="en-US" sz="900" dirty="0">
                <a:solidFill>
                  <a:srgbClr val="1C2833"/>
                </a:solidFill>
              </a:rPr>
              <a:t>Dirección favorable</a:t>
            </a:r>
            <a:endParaRPr lang="en-US" sz="900" dirty="0"/>
          </a:p>
          <a:p>
            <a:pPr marL="0" indent="0">
              <a:buNone/>
            </a:pPr>
            <a:r>
              <a:rPr lang="en-US" sz="900" dirty="0">
                <a:solidFill>
                  <a:srgbClr val="1C2833"/>
                </a:solidFill>
              </a:rPr>
              <a:t>pero NO significativo → incluidos como contexto</a:t>
            </a:r>
            <a:endParaRPr lang="en-US" sz="900" dirty="0"/>
          </a:p>
        </p:txBody>
      </p:sp>
      <p:sp>
        <p:nvSpPr>
          <p:cNvPr id="32" name="Shape 30"/>
          <p:cNvSpPr/>
          <p:nvPr/>
        </p:nvSpPr>
        <p:spPr>
          <a:xfrm>
            <a:off x="274320" y="4279392"/>
            <a:ext cx="8595360" cy="256032"/>
          </a:xfrm>
          <a:prstGeom prst="rect">
            <a:avLst/>
          </a:prstGeom>
          <a:solidFill>
            <a:srgbClr val="E5F6F9"/>
          </a:solidFill>
          <a:ln w="12700">
            <a:solidFill>
              <a:srgbClr val="C5DCE3"/>
            </a:solidFill>
            <a:prstDash val="solid"/>
          </a:ln>
        </p:spPr>
      </p:sp>
      <p:sp>
        <p:nvSpPr>
          <p:cNvPr id="33" name="Text 31"/>
          <p:cNvSpPr/>
          <p:nvPr/>
        </p:nvSpPr>
        <p:spPr>
          <a:xfrm>
            <a:off x="365760" y="4279392"/>
            <a:ext cx="8412480" cy="256032"/>
          </a:xfrm>
          <a:prstGeom prst="rect">
            <a:avLst/>
          </a:prstGeom>
          <a:noFill/>
          <a:ln/>
        </p:spPr>
        <p:txBody>
          <a:bodyPr wrap="square" lIns="0" tIns="0" rIns="0" bIns="0" rtlCol="0" anchor="ctr"/>
          <a:lstStyle/>
          <a:p>
            <a:pPr marL="0" indent="0">
              <a:buNone/>
            </a:pPr>
            <a:r>
              <a:rPr lang="en-US" sz="850" i="1" dirty="0">
                <a:solidFill>
                  <a:srgbClr val="136475"/>
                </a:solidFill>
              </a:rPr>
              <a:t>PC-ASPECTS: escala de 10 pts. Pons/mesencéfalo = 2 pts c/u · Tálamos = 1 pt c/u · Lóbulos occipitales y cerebelosos = 1 pt c/u · Umbral: ≥6 = daño leve</a:t>
            </a:r>
            <a:endParaRPr lang="en-US" sz="850" dirty="0"/>
          </a:p>
        </p:txBody>
      </p:sp>
      <p:sp>
        <p:nvSpPr>
          <p:cNvPr id="34" name="Shape 32"/>
          <p:cNvSpPr/>
          <p:nvPr/>
        </p:nvSpPr>
        <p:spPr>
          <a:xfrm>
            <a:off x="0" y="4892040"/>
            <a:ext cx="9144000" cy="251460"/>
          </a:xfrm>
          <a:prstGeom prst="rect">
            <a:avLst/>
          </a:prstGeom>
          <a:solidFill>
            <a:srgbClr val="136475"/>
          </a:solidFill>
          <a:ln w="12700">
            <a:solidFill>
              <a:srgbClr val="136475"/>
            </a:solidFill>
            <a:prstDash val="solid"/>
          </a:ln>
        </p:spPr>
      </p:sp>
      <p:sp>
        <p:nvSpPr>
          <p:cNvPr id="35" name="Text 33"/>
          <p:cNvSpPr/>
          <p:nvPr/>
        </p:nvSpPr>
        <p:spPr>
          <a:xfrm>
            <a:off x="274320" y="4892040"/>
            <a:ext cx="5486400" cy="251460"/>
          </a:xfrm>
          <a:prstGeom prst="rect">
            <a:avLst/>
          </a:prstGeom>
          <a:noFill/>
          <a:ln/>
        </p:spPr>
        <p:txBody>
          <a:bodyPr wrap="square" lIns="0" tIns="0" rIns="0" bIns="0" rtlCol="0" anchor="ctr"/>
          <a:lstStyle/>
          <a:p>
            <a:pPr marL="0" indent="0">
              <a:buNone/>
            </a:pPr>
            <a:r>
              <a:rPr lang="en-US" sz="800" i="1" dirty="0">
                <a:solidFill>
                  <a:srgbClr val="FFFFFF"/>
                </a:solidFill>
              </a:rPr>
              <a:t>Guía AHA Stroke 2026</a:t>
            </a:r>
            <a:endParaRPr lang="en-US" sz="800" dirty="0"/>
          </a:p>
        </p:txBody>
      </p:sp>
      <p:sp>
        <p:nvSpPr>
          <p:cNvPr id="36" name="Text 34"/>
          <p:cNvSpPr/>
          <p:nvPr/>
        </p:nvSpPr>
        <p:spPr>
          <a:xfrm>
            <a:off x="6858000" y="4892040"/>
            <a:ext cx="2011680" cy="251460"/>
          </a:xfrm>
          <a:prstGeom prst="rect">
            <a:avLst/>
          </a:prstGeom>
          <a:noFill/>
          <a:ln/>
        </p:spPr>
        <p:txBody>
          <a:bodyPr wrap="square" lIns="0" tIns="0" rIns="0" bIns="0" rtlCol="0" anchor="ctr"/>
          <a:lstStyle/>
          <a:p>
            <a:pPr marL="0" indent="0" algn="r">
              <a:buNone/>
            </a:pPr>
            <a:r>
              <a:rPr lang="en-US" sz="800" b="1" dirty="0">
                <a:solidFill>
                  <a:srgbClr val="FFFFFF"/>
                </a:solidFill>
              </a:rPr>
              <a:t>Hospital Posadas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FA0"/>
          </a:solidFill>
          <a:ln w="12700">
            <a:solidFill>
              <a:srgbClr val="1E8FA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800" b="1" dirty="0">
                <a:solidFill>
                  <a:srgbClr val="FFFFFF"/>
                </a:solidFill>
              </a:rPr>
              <a:t>M2 dominante y MIVO — ¿dónde termina la indicación?</a:t>
            </a:r>
            <a:endParaRPr lang="en-US" sz="1800" dirty="0"/>
          </a:p>
        </p:txBody>
      </p:sp>
      <p:sp>
        <p:nvSpPr>
          <p:cNvPr id="4" name="Shape 2"/>
          <p:cNvSpPr/>
          <p:nvPr/>
        </p:nvSpPr>
        <p:spPr>
          <a:xfrm>
            <a:off x="274320" y="804672"/>
            <a:ext cx="502920" cy="502920"/>
          </a:xfrm>
          <a:prstGeom prst="rect">
            <a:avLst/>
          </a:prstGeom>
          <a:solidFill>
            <a:srgbClr val="2980B9"/>
          </a:solidFill>
          <a:ln w="12700">
            <a:solidFill>
              <a:srgbClr val="2980B9"/>
            </a:solidFill>
            <a:prstDash val="solid"/>
          </a:ln>
        </p:spPr>
      </p:sp>
      <p:sp>
        <p:nvSpPr>
          <p:cNvPr id="5" name="Text 3"/>
          <p:cNvSpPr/>
          <p:nvPr/>
        </p:nvSpPr>
        <p:spPr>
          <a:xfrm>
            <a:off x="274320" y="80467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2a</a:t>
            </a:r>
            <a:endParaRPr lang="en-US" sz="1300" dirty="0"/>
          </a:p>
        </p:txBody>
      </p:sp>
      <p:sp>
        <p:nvSpPr>
          <p:cNvPr id="6" name="Shape 4"/>
          <p:cNvSpPr/>
          <p:nvPr/>
        </p:nvSpPr>
        <p:spPr>
          <a:xfrm>
            <a:off x="274320" y="1325880"/>
            <a:ext cx="502920" cy="292608"/>
          </a:xfrm>
          <a:prstGeom prst="rect">
            <a:avLst/>
          </a:prstGeom>
          <a:solidFill>
            <a:srgbClr val="2C3E50"/>
          </a:solidFill>
          <a:ln w="12700">
            <a:solidFill>
              <a:srgbClr val="2C3E50"/>
            </a:solidFill>
            <a:prstDash val="solid"/>
          </a:ln>
        </p:spPr>
      </p:sp>
      <p:sp>
        <p:nvSpPr>
          <p:cNvPr id="7" name="Text 5"/>
          <p:cNvSpPr/>
          <p:nvPr/>
        </p:nvSpPr>
        <p:spPr>
          <a:xfrm>
            <a:off x="274320" y="1325880"/>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B-NR</a:t>
            </a:r>
            <a:endParaRPr lang="en-US" sz="800" dirty="0"/>
          </a:p>
        </p:txBody>
      </p:sp>
      <p:sp>
        <p:nvSpPr>
          <p:cNvPr id="8" name="Shape 6"/>
          <p:cNvSpPr/>
          <p:nvPr/>
        </p:nvSpPr>
        <p:spPr>
          <a:xfrm>
            <a:off x="914400" y="804672"/>
            <a:ext cx="7955280" cy="914400"/>
          </a:xfrm>
          <a:prstGeom prst="rect">
            <a:avLst/>
          </a:prstGeom>
          <a:solidFill>
            <a:srgbClr val="E5F6F9"/>
          </a:solidFill>
          <a:ln w="19050">
            <a:solidFill>
              <a:srgbClr val="1E8FA0"/>
            </a:solidFill>
            <a:prstDash val="solid"/>
          </a:ln>
        </p:spPr>
      </p:sp>
      <p:sp>
        <p:nvSpPr>
          <p:cNvPr id="9" name="Text 7"/>
          <p:cNvSpPr/>
          <p:nvPr/>
        </p:nvSpPr>
        <p:spPr>
          <a:xfrm>
            <a:off x="960120" y="804672"/>
            <a:ext cx="7772400" cy="201168"/>
          </a:xfrm>
          <a:prstGeom prst="rect">
            <a:avLst/>
          </a:prstGeom>
          <a:noFill/>
          <a:ln/>
        </p:spPr>
        <p:txBody>
          <a:bodyPr wrap="square" lIns="25400" tIns="63500" rIns="63500" bIns="0" rtlCol="0" anchor="ctr"/>
          <a:lstStyle/>
          <a:p>
            <a:pPr marL="0" indent="0">
              <a:buNone/>
            </a:pPr>
            <a:r>
              <a:rPr lang="en-US" sz="950" b="1" dirty="0">
                <a:solidFill>
                  <a:srgbClr val="136475"/>
                </a:solidFill>
              </a:rPr>
              <a:t>Rec. 7 — M2 proximal DOMINANTE · Beneficio presente pero incierto</a:t>
            </a:r>
            <a:endParaRPr lang="en-US" sz="950" dirty="0"/>
          </a:p>
        </p:txBody>
      </p:sp>
      <p:sp>
        <p:nvSpPr>
          <p:cNvPr id="10" name="Text 8"/>
          <p:cNvSpPr/>
          <p:nvPr/>
        </p:nvSpPr>
        <p:spPr>
          <a:xfrm>
            <a:off x="960120" y="1005840"/>
            <a:ext cx="7772400" cy="713232"/>
          </a:xfrm>
          <a:prstGeom prst="rect">
            <a:avLst/>
          </a:prstGeom>
          <a:noFill/>
          <a:ln/>
        </p:spPr>
        <p:txBody>
          <a:bodyPr wrap="square" lIns="0" tIns="63500" rIns="63500" bIns="63500" rtlCol="0" anchor="t"/>
          <a:lstStyle/>
          <a:p>
            <a:pPr marL="0" indent="0">
              <a:buNone/>
            </a:pPr>
            <a:r>
              <a:rPr lang="en-US" sz="950" i="1" dirty="0">
                <a:solidFill>
                  <a:srgbClr val="1C2833"/>
                </a:solidFill>
              </a:rPr>
              <a:t>"In patients with AIS from occlusion of the dominant proximal M2 division of the MCA presenting within 6 hours from onset of symptoms with a prestroke mRS score of 0 to 1, NIHSS score of ≥6, and ASPECTS of ≥6, EVT is reasonable to improve functional outcomes, but the benefits are uncertain."</a:t>
            </a:r>
            <a:endParaRPr lang="en-US" sz="950" dirty="0"/>
          </a:p>
        </p:txBody>
      </p:sp>
      <p:sp>
        <p:nvSpPr>
          <p:cNvPr id="11" name="Shape 9"/>
          <p:cNvSpPr/>
          <p:nvPr/>
        </p:nvSpPr>
        <p:spPr>
          <a:xfrm>
            <a:off x="274320" y="1828800"/>
            <a:ext cx="502920" cy="502920"/>
          </a:xfrm>
          <a:prstGeom prst="rect">
            <a:avLst/>
          </a:prstGeom>
          <a:solidFill>
            <a:srgbClr val="C0392B"/>
          </a:solidFill>
          <a:ln w="12700">
            <a:solidFill>
              <a:srgbClr val="C0392B"/>
            </a:solidFill>
            <a:prstDash val="solid"/>
          </a:ln>
        </p:spPr>
      </p:sp>
      <p:sp>
        <p:nvSpPr>
          <p:cNvPr id="12" name="Text 10"/>
          <p:cNvSpPr/>
          <p:nvPr/>
        </p:nvSpPr>
        <p:spPr>
          <a:xfrm>
            <a:off x="274320" y="182880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3" name="Shape 11"/>
          <p:cNvSpPr/>
          <p:nvPr/>
        </p:nvSpPr>
        <p:spPr>
          <a:xfrm>
            <a:off x="274320" y="2350008"/>
            <a:ext cx="502920" cy="292608"/>
          </a:xfrm>
          <a:prstGeom prst="rect">
            <a:avLst/>
          </a:prstGeom>
          <a:solidFill>
            <a:srgbClr val="2C3E50"/>
          </a:solidFill>
          <a:ln w="12700">
            <a:solidFill>
              <a:srgbClr val="2C3E50"/>
            </a:solidFill>
            <a:prstDash val="solid"/>
          </a:ln>
        </p:spPr>
      </p:sp>
      <p:sp>
        <p:nvSpPr>
          <p:cNvPr id="14" name="Text 12"/>
          <p:cNvSpPr/>
          <p:nvPr/>
        </p:nvSpPr>
        <p:spPr>
          <a:xfrm>
            <a:off x="274320" y="2350008"/>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A</a:t>
            </a:r>
            <a:endParaRPr lang="en-US" sz="800" dirty="0"/>
          </a:p>
        </p:txBody>
      </p:sp>
      <p:sp>
        <p:nvSpPr>
          <p:cNvPr id="15" name="Shape 13"/>
          <p:cNvSpPr/>
          <p:nvPr/>
        </p:nvSpPr>
        <p:spPr>
          <a:xfrm>
            <a:off x="914400" y="1828800"/>
            <a:ext cx="7955280" cy="841248"/>
          </a:xfrm>
          <a:prstGeom prst="rect">
            <a:avLst/>
          </a:prstGeom>
          <a:solidFill>
            <a:srgbClr val="FDEDEC"/>
          </a:solidFill>
          <a:ln w="19050">
            <a:solidFill>
              <a:srgbClr val="C0392B"/>
            </a:solidFill>
            <a:prstDash val="solid"/>
          </a:ln>
        </p:spPr>
      </p:sp>
      <p:sp>
        <p:nvSpPr>
          <p:cNvPr id="16" name="Text 14"/>
          <p:cNvSpPr/>
          <p:nvPr/>
        </p:nvSpPr>
        <p:spPr>
          <a:xfrm>
            <a:off x="960120" y="1828800"/>
            <a:ext cx="7772400" cy="219456"/>
          </a:xfrm>
          <a:prstGeom prst="rect">
            <a:avLst/>
          </a:prstGeom>
          <a:noFill/>
          <a:ln/>
        </p:spPr>
        <p:txBody>
          <a:bodyPr wrap="square" lIns="25400" tIns="63500" rIns="63500" bIns="0" rtlCol="0" anchor="ctr"/>
          <a:lstStyle/>
          <a:p>
            <a:pPr marL="0" indent="0">
              <a:buNone/>
            </a:pPr>
            <a:r>
              <a:rPr lang="en-US" sz="950" b="1" dirty="0">
                <a:solidFill>
                  <a:srgbClr val="C0392B"/>
                </a:solidFill>
              </a:rPr>
              <a:t>Rec. 8 — M2 no dominante / codominante, MCA distal, ACA, ACP · NO RECOMENDADO</a:t>
            </a:r>
            <a:endParaRPr lang="en-US" sz="950" dirty="0"/>
          </a:p>
        </p:txBody>
      </p:sp>
      <p:sp>
        <p:nvSpPr>
          <p:cNvPr id="17" name="Text 15"/>
          <p:cNvSpPr/>
          <p:nvPr/>
        </p:nvSpPr>
        <p:spPr>
          <a:xfrm>
            <a:off x="960120" y="2048256"/>
            <a:ext cx="7772400" cy="621792"/>
          </a:xfrm>
          <a:prstGeom prst="rect">
            <a:avLst/>
          </a:prstGeom>
          <a:noFill/>
          <a:ln/>
        </p:spPr>
        <p:txBody>
          <a:bodyPr wrap="square" lIns="0" tIns="63500" rIns="63500" bIns="63500" rtlCol="0" anchor="t"/>
          <a:lstStyle/>
          <a:p>
            <a:pPr marL="0" indent="0">
              <a:buNone/>
            </a:pPr>
            <a:r>
              <a:rPr lang="en-US" sz="950" i="1" dirty="0">
                <a:solidFill>
                  <a:srgbClr val="1C2833"/>
                </a:solidFill>
              </a:rPr>
              <a:t>"In patients with AIS from occlusion of the proximal nondominant or codominant division proximal M2 segment of the MCA, or distal MCA, anterior cerebral artery (ACA), or posterior cerebral artery (PCA), EVT is not recommended to improve functional outcomes."</a:t>
            </a:r>
            <a:endParaRPr lang="en-US" sz="950" dirty="0"/>
          </a:p>
        </p:txBody>
      </p:sp>
      <p:sp>
        <p:nvSpPr>
          <p:cNvPr id="18" name="Shape 16"/>
          <p:cNvSpPr/>
          <p:nvPr/>
        </p:nvSpPr>
        <p:spPr>
          <a:xfrm>
            <a:off x="274320" y="2798064"/>
            <a:ext cx="4160520" cy="1371600"/>
          </a:xfrm>
          <a:prstGeom prst="rect">
            <a:avLst/>
          </a:prstGeom>
          <a:solidFill>
            <a:srgbClr val="EDF2FB"/>
          </a:solidFill>
          <a:ln w="12700">
            <a:solidFill>
              <a:srgbClr val="2980B9"/>
            </a:solidFill>
            <a:prstDash val="solid"/>
          </a:ln>
        </p:spPr>
      </p:sp>
      <p:sp>
        <p:nvSpPr>
          <p:cNvPr id="19" name="Text 17"/>
          <p:cNvSpPr/>
          <p:nvPr/>
        </p:nvSpPr>
        <p:spPr>
          <a:xfrm>
            <a:off x="365760" y="2798064"/>
            <a:ext cx="3977640" cy="237744"/>
          </a:xfrm>
          <a:prstGeom prst="rect">
            <a:avLst/>
          </a:prstGeom>
          <a:noFill/>
          <a:ln/>
        </p:spPr>
        <p:txBody>
          <a:bodyPr wrap="square" lIns="0" tIns="0" rIns="0" bIns="0" rtlCol="0" anchor="ctr"/>
          <a:lstStyle/>
          <a:p>
            <a:pPr marL="0" indent="0">
              <a:buNone/>
            </a:pPr>
            <a:r>
              <a:rPr lang="en-US" sz="1000" b="1" dirty="0">
                <a:solidFill>
                  <a:srgbClr val="2980B9"/>
                </a:solidFill>
              </a:rPr>
              <a:t>Definición 'M2 dominante'</a:t>
            </a:r>
            <a:endParaRPr lang="en-US" sz="1000" dirty="0"/>
          </a:p>
        </p:txBody>
      </p:sp>
      <p:sp>
        <p:nvSpPr>
          <p:cNvPr id="20" name="Text 18"/>
          <p:cNvSpPr/>
          <p:nvPr/>
        </p:nvSpPr>
        <p:spPr>
          <a:xfrm>
            <a:off x="365760" y="3054096"/>
            <a:ext cx="3977640" cy="1078992"/>
          </a:xfrm>
          <a:prstGeom prst="rect">
            <a:avLst/>
          </a:prstGeom>
          <a:noFill/>
          <a:ln/>
        </p:spPr>
        <p:txBody>
          <a:bodyPr wrap="square" lIns="0" tIns="0" rIns="0" bIns="0" rtlCol="0" anchor="t"/>
          <a:lstStyle/>
          <a:p>
            <a:pPr marL="0" indent="0">
              <a:buNone/>
            </a:pPr>
            <a:r>
              <a:rPr lang="en-US" sz="950" dirty="0">
                <a:solidFill>
                  <a:srgbClr val="1C2833"/>
                </a:solidFill>
              </a:rPr>
              <a:t>Segmento M2 que irriga ≥50% del territorio de la ACM.</a:t>
            </a:r>
            <a:endParaRPr lang="en-US" sz="950" dirty="0"/>
          </a:p>
          <a:p>
            <a:pPr marL="0" indent="0">
              <a:buNone/>
            </a:pPr>
            <a:r>
              <a:rPr lang="en-US" sz="950" dirty="0">
                <a:solidFill>
                  <a:srgbClr val="1C2833"/>
                </a:solidFill>
              </a:rPr>
              <a:t>→ NO se refiere a hemisferio dominante izquierdo/derecho.</a:t>
            </a:r>
            <a:endParaRPr lang="en-US" sz="950" dirty="0"/>
          </a:p>
          <a:p>
            <a:pPr marL="0" indent="0">
              <a:buNone/>
            </a:pPr>
            <a:r>
              <a:rPr lang="en-US" sz="950" dirty="0">
                <a:solidFill>
                  <a:srgbClr val="1C2833"/>
                </a:solidFill>
              </a:rPr>
              <a:t>HERMES (M2 pooled): aOR 2.39 [1.08–5.28]; p=0.03</a:t>
            </a:r>
            <a:endParaRPr lang="en-US" sz="950" dirty="0"/>
          </a:p>
          <a:p>
            <a:pPr marL="0" indent="0">
              <a:buNone/>
            </a:pPr>
            <a:r>
              <a:rPr lang="en-US" sz="950" dirty="0">
                <a:solidFill>
                  <a:srgbClr val="1C2833"/>
                </a:solidFill>
              </a:rPr>
              <a:t>MR-CLEAN registry: outcomes similares M1 vs M2</a:t>
            </a:r>
            <a:endParaRPr lang="en-US" sz="950" dirty="0"/>
          </a:p>
        </p:txBody>
      </p:sp>
      <p:sp>
        <p:nvSpPr>
          <p:cNvPr id="21" name="Shape 19"/>
          <p:cNvSpPr/>
          <p:nvPr/>
        </p:nvSpPr>
        <p:spPr>
          <a:xfrm>
            <a:off x="4663440" y="2798064"/>
            <a:ext cx="4160520" cy="1371600"/>
          </a:xfrm>
          <a:prstGeom prst="rect">
            <a:avLst/>
          </a:prstGeom>
          <a:solidFill>
            <a:srgbClr val="FDEDEC"/>
          </a:solidFill>
          <a:ln w="12700">
            <a:solidFill>
              <a:srgbClr val="C0392B"/>
            </a:solidFill>
            <a:prstDash val="solid"/>
          </a:ln>
        </p:spPr>
      </p:sp>
      <p:sp>
        <p:nvSpPr>
          <p:cNvPr id="22" name="Text 20"/>
          <p:cNvSpPr/>
          <p:nvPr/>
        </p:nvSpPr>
        <p:spPr>
          <a:xfrm>
            <a:off x="4754880" y="2798064"/>
            <a:ext cx="3977640" cy="237744"/>
          </a:xfrm>
          <a:prstGeom prst="rect">
            <a:avLst/>
          </a:prstGeom>
          <a:noFill/>
          <a:ln/>
        </p:spPr>
        <p:txBody>
          <a:bodyPr wrap="square" lIns="0" tIns="0" rIns="0" bIns="0" rtlCol="0" anchor="ctr"/>
          <a:lstStyle/>
          <a:p>
            <a:pPr marL="0" indent="0">
              <a:buNone/>
            </a:pPr>
            <a:r>
              <a:rPr lang="en-US" sz="1000" b="1" dirty="0">
                <a:solidFill>
                  <a:srgbClr val="C0392B"/>
                </a:solidFill>
              </a:rPr>
              <a:t>Porqué COR 3 para distal</a:t>
            </a:r>
            <a:endParaRPr lang="en-US" sz="1000" dirty="0"/>
          </a:p>
        </p:txBody>
      </p:sp>
      <p:sp>
        <p:nvSpPr>
          <p:cNvPr id="23" name="Text 21"/>
          <p:cNvSpPr/>
          <p:nvPr/>
        </p:nvSpPr>
        <p:spPr>
          <a:xfrm>
            <a:off x="4754880" y="3054096"/>
            <a:ext cx="3977640" cy="1078992"/>
          </a:xfrm>
          <a:prstGeom prst="rect">
            <a:avLst/>
          </a:prstGeom>
          <a:noFill/>
          <a:ln/>
        </p:spPr>
        <p:txBody>
          <a:bodyPr wrap="square" lIns="0" tIns="0" rIns="0" bIns="0" rtlCol="0" anchor="t"/>
          <a:lstStyle/>
          <a:p>
            <a:pPr marL="0" indent="0">
              <a:buNone/>
            </a:pPr>
            <a:r>
              <a:rPr lang="en-US" sz="950" dirty="0">
                <a:solidFill>
                  <a:srgbClr val="1C2833"/>
                </a:solidFill>
              </a:rPr>
              <a:t>ESCAPE-MeVO: 530 pts — NO beneficio global de EVT</a:t>
            </a:r>
            <a:endParaRPr lang="en-US" sz="950" dirty="0"/>
          </a:p>
          <a:p>
            <a:pPr marL="0" indent="0">
              <a:buNone/>
            </a:pPr>
            <a:r>
              <a:rPr lang="en-US" sz="950" dirty="0">
                <a:solidFill>
                  <a:srgbClr val="1C2833"/>
                </a:solidFill>
              </a:rPr>
              <a:t>DISTAL: MCA distal, ACA A2/A3, ACP P1–P3 — NO beneficio</a:t>
            </a:r>
            <a:endParaRPr lang="en-US" sz="950" dirty="0"/>
          </a:p>
          <a:p>
            <a:pPr marL="0" indent="0">
              <a:buNone/>
            </a:pPr>
            <a:r>
              <a:rPr lang="en-US" sz="950" dirty="0">
                <a:solidFill>
                  <a:srgbClr val="1C2833"/>
                </a:solidFill>
              </a:rPr>
              <a:t>Limitation ESCAPE-MeVO: tiempos onset→recanalización 359 min (vs 241 min en ESCAPE original) → Investigación futura con workflows más cortos</a:t>
            </a:r>
            <a:endParaRPr lang="en-US" sz="950" dirty="0"/>
          </a:p>
        </p:txBody>
      </p:sp>
      <p:sp>
        <p:nvSpPr>
          <p:cNvPr id="24" name="Shape 22"/>
          <p:cNvSpPr/>
          <p:nvPr/>
        </p:nvSpPr>
        <p:spPr>
          <a:xfrm>
            <a:off x="0" y="4892040"/>
            <a:ext cx="9144000" cy="251460"/>
          </a:xfrm>
          <a:prstGeom prst="rect">
            <a:avLst/>
          </a:prstGeom>
          <a:solidFill>
            <a:srgbClr val="136475"/>
          </a:solidFill>
          <a:ln w="12700">
            <a:solidFill>
              <a:srgbClr val="136475"/>
            </a:solidFill>
            <a:prstDash val="solid"/>
          </a:ln>
        </p:spPr>
      </p:sp>
      <p:sp>
        <p:nvSpPr>
          <p:cNvPr id="25" name="Text 23"/>
          <p:cNvSpPr/>
          <p:nvPr/>
        </p:nvSpPr>
        <p:spPr>
          <a:xfrm>
            <a:off x="274320" y="4892040"/>
            <a:ext cx="5486400" cy="251460"/>
          </a:xfrm>
          <a:prstGeom prst="rect">
            <a:avLst/>
          </a:prstGeom>
          <a:noFill/>
          <a:ln/>
        </p:spPr>
        <p:txBody>
          <a:bodyPr wrap="square" lIns="0" tIns="0" rIns="0" bIns="0" rtlCol="0" anchor="ctr"/>
          <a:lstStyle/>
          <a:p>
            <a:pPr marL="0" indent="0">
              <a:buNone/>
            </a:pPr>
            <a:r>
              <a:rPr lang="en-US" sz="800" i="1" dirty="0">
                <a:solidFill>
                  <a:srgbClr val="FFFFFF"/>
                </a:solidFill>
              </a:rPr>
              <a:t>Guía AHA Stroke 2026</a:t>
            </a:r>
            <a:endParaRPr lang="en-US" sz="800" dirty="0"/>
          </a:p>
        </p:txBody>
      </p:sp>
      <p:sp>
        <p:nvSpPr>
          <p:cNvPr id="26" name="Text 24"/>
          <p:cNvSpPr/>
          <p:nvPr/>
        </p:nvSpPr>
        <p:spPr>
          <a:xfrm>
            <a:off x="6858000" y="4892040"/>
            <a:ext cx="2011680" cy="251460"/>
          </a:xfrm>
          <a:prstGeom prst="rect">
            <a:avLst/>
          </a:prstGeom>
          <a:noFill/>
          <a:ln/>
        </p:spPr>
        <p:txBody>
          <a:bodyPr wrap="square" lIns="0" tIns="0" rIns="0" bIns="0" rtlCol="0" anchor="ctr"/>
          <a:lstStyle/>
          <a:p>
            <a:pPr marL="0" indent="0" algn="r">
              <a:buNone/>
            </a:pPr>
            <a:r>
              <a:rPr lang="en-US" sz="800" b="1" dirty="0">
                <a:solidFill>
                  <a:srgbClr val="FFFFFF"/>
                </a:solidFill>
              </a:rPr>
              <a:t>Hospital Posadas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FA0"/>
          </a:solidFill>
          <a:ln w="12700">
            <a:solidFill>
              <a:srgbClr val="1E8FA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800" b="1" dirty="0">
                <a:solidFill>
                  <a:srgbClr val="FFFFFF"/>
                </a:solidFill>
              </a:rPr>
              <a:t>4.7.4 Técnicas endovasculares · Anestesia · Objetivo TICI</a:t>
            </a:r>
            <a:endParaRPr lang="en-US" sz="1800" dirty="0"/>
          </a:p>
        </p:txBody>
      </p:sp>
      <p:sp>
        <p:nvSpPr>
          <p:cNvPr id="4" name="Shape 2"/>
          <p:cNvSpPr/>
          <p:nvPr/>
        </p:nvSpPr>
        <p:spPr>
          <a:xfrm>
            <a:off x="274320" y="804672"/>
            <a:ext cx="502920" cy="502920"/>
          </a:xfrm>
          <a:prstGeom prst="rect">
            <a:avLst/>
          </a:prstGeom>
          <a:solidFill>
            <a:srgbClr val="1A9464"/>
          </a:solidFill>
          <a:ln w="12700">
            <a:solidFill>
              <a:srgbClr val="1A9464"/>
            </a:solidFill>
            <a:prstDash val="solid"/>
          </a:ln>
        </p:spPr>
      </p:sp>
      <p:sp>
        <p:nvSpPr>
          <p:cNvPr id="5" name="Text 3"/>
          <p:cNvSpPr/>
          <p:nvPr/>
        </p:nvSpPr>
        <p:spPr>
          <a:xfrm>
            <a:off x="274320" y="80467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Shape 4"/>
          <p:cNvSpPr/>
          <p:nvPr/>
        </p:nvSpPr>
        <p:spPr>
          <a:xfrm>
            <a:off x="274320" y="1325880"/>
            <a:ext cx="502920" cy="292608"/>
          </a:xfrm>
          <a:prstGeom prst="rect">
            <a:avLst/>
          </a:prstGeom>
          <a:solidFill>
            <a:srgbClr val="2C3E50"/>
          </a:solidFill>
          <a:ln w="12700">
            <a:solidFill>
              <a:srgbClr val="2C3E50"/>
            </a:solidFill>
            <a:prstDash val="solid"/>
          </a:ln>
        </p:spPr>
      </p:sp>
      <p:sp>
        <p:nvSpPr>
          <p:cNvPr id="7" name="Text 5"/>
          <p:cNvSpPr/>
          <p:nvPr/>
        </p:nvSpPr>
        <p:spPr>
          <a:xfrm>
            <a:off x="274320" y="1325880"/>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A</a:t>
            </a:r>
            <a:endParaRPr lang="en-US" sz="800" dirty="0"/>
          </a:p>
        </p:txBody>
      </p:sp>
      <p:sp>
        <p:nvSpPr>
          <p:cNvPr id="8" name="Shape 6"/>
          <p:cNvSpPr/>
          <p:nvPr/>
        </p:nvSpPr>
        <p:spPr>
          <a:xfrm>
            <a:off x="914400" y="804672"/>
            <a:ext cx="7955280" cy="1207008"/>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9" name="Shape 7"/>
          <p:cNvSpPr/>
          <p:nvPr/>
        </p:nvSpPr>
        <p:spPr>
          <a:xfrm>
            <a:off x="914400" y="804672"/>
            <a:ext cx="7955280" cy="237744"/>
          </a:xfrm>
          <a:prstGeom prst="rect">
            <a:avLst/>
          </a:prstGeom>
          <a:solidFill>
            <a:srgbClr val="1A9464"/>
          </a:solidFill>
          <a:ln w="12700">
            <a:solidFill>
              <a:srgbClr val="1A9464"/>
            </a:solidFill>
            <a:prstDash val="solid"/>
          </a:ln>
        </p:spPr>
      </p:sp>
      <p:sp>
        <p:nvSpPr>
          <p:cNvPr id="10" name="Text 8"/>
          <p:cNvSpPr/>
          <p:nvPr/>
        </p:nvSpPr>
        <p:spPr>
          <a:xfrm>
            <a:off x="960120" y="804672"/>
            <a:ext cx="7772400" cy="237744"/>
          </a:xfrm>
          <a:prstGeom prst="rect">
            <a:avLst/>
          </a:prstGeom>
          <a:noFill/>
          <a:ln/>
        </p:spPr>
        <p:txBody>
          <a:bodyPr wrap="square" lIns="0" tIns="63500" rIns="63500" bIns="0" rtlCol="0" anchor="ctr"/>
          <a:lstStyle/>
          <a:p>
            <a:pPr marL="0" indent="0">
              <a:buNone/>
            </a:pPr>
            <a:r>
              <a:rPr lang="en-US" sz="1000" b="1" dirty="0">
                <a:solidFill>
                  <a:srgbClr val="FFFFFF"/>
                </a:solidFill>
              </a:rPr>
              <a:t>Dispositivos — equivalentes</a:t>
            </a:r>
            <a:endParaRPr lang="en-US" sz="1000" dirty="0"/>
          </a:p>
        </p:txBody>
      </p:sp>
      <p:sp>
        <p:nvSpPr>
          <p:cNvPr id="11" name="Text 9"/>
          <p:cNvSpPr/>
          <p:nvPr/>
        </p:nvSpPr>
        <p:spPr>
          <a:xfrm>
            <a:off x="960120" y="1060704"/>
            <a:ext cx="7772400" cy="530352"/>
          </a:xfrm>
          <a:prstGeom prst="rect">
            <a:avLst/>
          </a:prstGeom>
          <a:noFill/>
          <a:ln/>
        </p:spPr>
        <p:txBody>
          <a:bodyPr wrap="square" lIns="0" tIns="63500" rIns="63500" bIns="0" rtlCol="0" anchor="t"/>
          <a:lstStyle/>
          <a:p>
            <a:pPr marL="0" indent="0">
              <a:buNone/>
            </a:pPr>
            <a:r>
              <a:rPr lang="en-US" sz="950" i="1" dirty="0">
                <a:solidFill>
                  <a:srgbClr val="1C2833"/>
                </a:solidFill>
              </a:rPr>
              <a:t>"EVT with stent retrievers, contact aspiration, or combination techniques is recommended to achieve rapid and adequate reperfusion."</a:t>
            </a:r>
            <a:endParaRPr lang="en-US" sz="950" dirty="0"/>
          </a:p>
        </p:txBody>
      </p:sp>
      <p:sp>
        <p:nvSpPr>
          <p:cNvPr id="12" name="Text 10"/>
          <p:cNvSpPr/>
          <p:nvPr/>
        </p:nvSpPr>
        <p:spPr>
          <a:xfrm>
            <a:off x="960120" y="1600200"/>
            <a:ext cx="7772400" cy="384048"/>
          </a:xfrm>
          <a:prstGeom prst="rect">
            <a:avLst/>
          </a:prstGeom>
          <a:noFill/>
          <a:ln/>
        </p:spPr>
        <p:txBody>
          <a:bodyPr wrap="square" lIns="0" tIns="63500" rIns="63500" bIns="0" rtlCol="0" anchor="t"/>
          <a:lstStyle/>
          <a:p>
            <a:pPr marL="0" indent="0">
              <a:buNone/>
            </a:pPr>
            <a:r>
              <a:rPr lang="en-US" sz="850" dirty="0">
                <a:solidFill>
                  <a:srgbClr val="4A5568"/>
                </a:solidFill>
              </a:rPr>
              <a:t>ASTER, COMPASS, ASTER 2: sin diferencia en reperfusión. Técnica combinada no superior a stent retriever solo.</a:t>
            </a:r>
            <a:endParaRPr lang="en-US" sz="850" dirty="0"/>
          </a:p>
        </p:txBody>
      </p:sp>
      <p:sp>
        <p:nvSpPr>
          <p:cNvPr id="13" name="Shape 11"/>
          <p:cNvSpPr/>
          <p:nvPr/>
        </p:nvSpPr>
        <p:spPr>
          <a:xfrm>
            <a:off x="274320" y="2130552"/>
            <a:ext cx="502920" cy="502920"/>
          </a:xfrm>
          <a:prstGeom prst="rect">
            <a:avLst/>
          </a:prstGeom>
          <a:solidFill>
            <a:srgbClr val="1A9464"/>
          </a:solidFill>
          <a:ln w="12700">
            <a:solidFill>
              <a:srgbClr val="1A9464"/>
            </a:solidFill>
            <a:prstDash val="solid"/>
          </a:ln>
        </p:spPr>
      </p:sp>
      <p:sp>
        <p:nvSpPr>
          <p:cNvPr id="14" name="Text 12"/>
          <p:cNvSpPr/>
          <p:nvPr/>
        </p:nvSpPr>
        <p:spPr>
          <a:xfrm>
            <a:off x="274320" y="213055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5" name="Shape 13"/>
          <p:cNvSpPr/>
          <p:nvPr/>
        </p:nvSpPr>
        <p:spPr>
          <a:xfrm>
            <a:off x="274320" y="2651760"/>
            <a:ext cx="502920" cy="292608"/>
          </a:xfrm>
          <a:prstGeom prst="rect">
            <a:avLst/>
          </a:prstGeom>
          <a:solidFill>
            <a:srgbClr val="2C3E50"/>
          </a:solidFill>
          <a:ln w="12700">
            <a:solidFill>
              <a:srgbClr val="2C3E50"/>
            </a:solidFill>
            <a:prstDash val="solid"/>
          </a:ln>
        </p:spPr>
      </p:sp>
      <p:sp>
        <p:nvSpPr>
          <p:cNvPr id="16" name="Text 14"/>
          <p:cNvSpPr/>
          <p:nvPr/>
        </p:nvSpPr>
        <p:spPr>
          <a:xfrm>
            <a:off x="274320" y="2651760"/>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A</a:t>
            </a:r>
            <a:endParaRPr lang="en-US" sz="800" dirty="0"/>
          </a:p>
        </p:txBody>
      </p:sp>
      <p:sp>
        <p:nvSpPr>
          <p:cNvPr id="17" name="Shape 15"/>
          <p:cNvSpPr/>
          <p:nvPr/>
        </p:nvSpPr>
        <p:spPr>
          <a:xfrm>
            <a:off x="914400" y="2130552"/>
            <a:ext cx="7955280" cy="1207008"/>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18" name="Shape 16"/>
          <p:cNvSpPr/>
          <p:nvPr/>
        </p:nvSpPr>
        <p:spPr>
          <a:xfrm>
            <a:off x="914400" y="2130552"/>
            <a:ext cx="7955280" cy="237744"/>
          </a:xfrm>
          <a:prstGeom prst="rect">
            <a:avLst/>
          </a:prstGeom>
          <a:solidFill>
            <a:srgbClr val="1E8FA0"/>
          </a:solidFill>
          <a:ln w="12700">
            <a:solidFill>
              <a:srgbClr val="1E8FA0"/>
            </a:solidFill>
            <a:prstDash val="solid"/>
          </a:ln>
        </p:spPr>
      </p:sp>
      <p:sp>
        <p:nvSpPr>
          <p:cNvPr id="19" name="Text 17"/>
          <p:cNvSpPr/>
          <p:nvPr/>
        </p:nvSpPr>
        <p:spPr>
          <a:xfrm>
            <a:off x="960120" y="2130552"/>
            <a:ext cx="7772400" cy="237744"/>
          </a:xfrm>
          <a:prstGeom prst="rect">
            <a:avLst/>
          </a:prstGeom>
          <a:noFill/>
          <a:ln/>
        </p:spPr>
        <p:txBody>
          <a:bodyPr wrap="square" lIns="0" tIns="63500" rIns="63500" bIns="0" rtlCol="0" anchor="ctr"/>
          <a:lstStyle/>
          <a:p>
            <a:pPr marL="0" indent="0">
              <a:buNone/>
            </a:pPr>
            <a:r>
              <a:rPr lang="en-US" sz="1000" b="1" dirty="0">
                <a:solidFill>
                  <a:srgbClr val="FFFFFF"/>
                </a:solidFill>
              </a:rPr>
              <a:t>Objetivo angiográfico</a:t>
            </a:r>
            <a:endParaRPr lang="en-US" sz="1000" dirty="0"/>
          </a:p>
        </p:txBody>
      </p:sp>
      <p:sp>
        <p:nvSpPr>
          <p:cNvPr id="20" name="Text 18"/>
          <p:cNvSpPr/>
          <p:nvPr/>
        </p:nvSpPr>
        <p:spPr>
          <a:xfrm>
            <a:off x="960120" y="2386584"/>
            <a:ext cx="7772400" cy="530352"/>
          </a:xfrm>
          <a:prstGeom prst="rect">
            <a:avLst/>
          </a:prstGeom>
          <a:noFill/>
          <a:ln/>
        </p:spPr>
        <p:txBody>
          <a:bodyPr wrap="square" lIns="0" tIns="63500" rIns="63500" bIns="0" rtlCol="0" anchor="t"/>
          <a:lstStyle/>
          <a:p>
            <a:pPr marL="0" indent="0">
              <a:buNone/>
            </a:pPr>
            <a:r>
              <a:rPr lang="en-US" sz="950" i="1" dirty="0">
                <a:solidFill>
                  <a:srgbClr val="1C2833"/>
                </a:solidFill>
              </a:rPr>
              <a:t>"Reperfusion to an extended TICI grade 2b/2c/3 is recommended as early as possible within the therapeutic window to achieve maximum functional benefit at 90 days."</a:t>
            </a:r>
            <a:endParaRPr lang="en-US" sz="950" dirty="0"/>
          </a:p>
        </p:txBody>
      </p:sp>
      <p:sp>
        <p:nvSpPr>
          <p:cNvPr id="21" name="Text 19"/>
          <p:cNvSpPr/>
          <p:nvPr/>
        </p:nvSpPr>
        <p:spPr>
          <a:xfrm>
            <a:off x="960120" y="2926080"/>
            <a:ext cx="7772400" cy="384048"/>
          </a:xfrm>
          <a:prstGeom prst="rect">
            <a:avLst/>
          </a:prstGeom>
          <a:noFill/>
          <a:ln/>
        </p:spPr>
        <p:txBody>
          <a:bodyPr wrap="square" lIns="0" tIns="63500" rIns="63500" bIns="0" rtlCol="0" anchor="t"/>
          <a:lstStyle/>
          <a:p>
            <a:pPr marL="0" indent="0">
              <a:buNone/>
            </a:pPr>
            <a:r>
              <a:rPr lang="en-US" sz="850" dirty="0">
                <a:solidFill>
                  <a:srgbClr val="4A5568"/>
                </a:solidFill>
              </a:rPr>
              <a:t>TICI 2c (nuevo): perfusión casi completa. HERMES: 71% de pacientes alcanzaron mTICI 2b/3.</a:t>
            </a:r>
            <a:endParaRPr lang="en-US" sz="850" dirty="0"/>
          </a:p>
        </p:txBody>
      </p:sp>
      <p:sp>
        <p:nvSpPr>
          <p:cNvPr id="22" name="Shape 20"/>
          <p:cNvSpPr/>
          <p:nvPr/>
        </p:nvSpPr>
        <p:spPr>
          <a:xfrm>
            <a:off x="274320" y="3456432"/>
            <a:ext cx="502920" cy="502920"/>
          </a:xfrm>
          <a:prstGeom prst="rect">
            <a:avLst/>
          </a:prstGeom>
          <a:solidFill>
            <a:srgbClr val="1A9464"/>
          </a:solidFill>
          <a:ln w="12700">
            <a:solidFill>
              <a:srgbClr val="1A9464"/>
            </a:solidFill>
            <a:prstDash val="solid"/>
          </a:ln>
        </p:spPr>
      </p:sp>
      <p:sp>
        <p:nvSpPr>
          <p:cNvPr id="23" name="Text 21"/>
          <p:cNvSpPr/>
          <p:nvPr/>
        </p:nvSpPr>
        <p:spPr>
          <a:xfrm>
            <a:off x="274320" y="345643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24" name="Shape 22"/>
          <p:cNvSpPr/>
          <p:nvPr/>
        </p:nvSpPr>
        <p:spPr>
          <a:xfrm>
            <a:off x="274320" y="3977640"/>
            <a:ext cx="502920" cy="292608"/>
          </a:xfrm>
          <a:prstGeom prst="rect">
            <a:avLst/>
          </a:prstGeom>
          <a:solidFill>
            <a:srgbClr val="2C3E50"/>
          </a:solidFill>
          <a:ln w="12700">
            <a:solidFill>
              <a:srgbClr val="2C3E50"/>
            </a:solidFill>
            <a:prstDash val="solid"/>
          </a:ln>
        </p:spPr>
      </p:sp>
      <p:sp>
        <p:nvSpPr>
          <p:cNvPr id="25" name="Text 23"/>
          <p:cNvSpPr/>
          <p:nvPr/>
        </p:nvSpPr>
        <p:spPr>
          <a:xfrm>
            <a:off x="274320" y="3977640"/>
            <a:ext cx="502920" cy="292608"/>
          </a:xfrm>
          <a:prstGeom prst="rect">
            <a:avLst/>
          </a:prstGeom>
          <a:noFill/>
          <a:ln/>
        </p:spPr>
        <p:txBody>
          <a:bodyPr wrap="square" lIns="0" tIns="0" rIns="0" bIns="0" rtlCol="0" anchor="ctr"/>
          <a:lstStyle/>
          <a:p>
            <a:pPr marL="0" indent="0" algn="ctr">
              <a:buNone/>
            </a:pPr>
            <a:r>
              <a:rPr lang="en-US" sz="800" b="1" dirty="0">
                <a:solidFill>
                  <a:srgbClr val="FFFFFF"/>
                </a:solidFill>
              </a:rPr>
              <a:t>B-R</a:t>
            </a:r>
            <a:endParaRPr lang="en-US" sz="800" dirty="0"/>
          </a:p>
        </p:txBody>
      </p:sp>
      <p:sp>
        <p:nvSpPr>
          <p:cNvPr id="26" name="Shape 24"/>
          <p:cNvSpPr/>
          <p:nvPr/>
        </p:nvSpPr>
        <p:spPr>
          <a:xfrm>
            <a:off x="914400" y="3456432"/>
            <a:ext cx="7955280" cy="1207008"/>
          </a:xfrm>
          <a:prstGeom prst="rect">
            <a:avLst/>
          </a:prstGeom>
          <a:solidFill>
            <a:srgbClr val="FFFFFF"/>
          </a:solidFill>
          <a:ln w="12700">
            <a:solidFill>
              <a:srgbClr val="C5DCE3"/>
            </a:solidFill>
            <a:prstDash val="solid"/>
          </a:ln>
          <a:effectLst>
            <a:outerShdw blurRad="101600" dist="25400" dir="8100000" algn="bl" rotWithShape="0">
              <a:srgbClr val="000000">
                <a:alpha val="10000"/>
              </a:srgbClr>
            </a:outerShdw>
          </a:effectLst>
        </p:spPr>
      </p:sp>
      <p:sp>
        <p:nvSpPr>
          <p:cNvPr id="27" name="Shape 25"/>
          <p:cNvSpPr/>
          <p:nvPr/>
        </p:nvSpPr>
        <p:spPr>
          <a:xfrm>
            <a:off x="914400" y="3456432"/>
            <a:ext cx="7955280" cy="237744"/>
          </a:xfrm>
          <a:prstGeom prst="rect">
            <a:avLst/>
          </a:prstGeom>
          <a:solidFill>
            <a:srgbClr val="1A9464"/>
          </a:solidFill>
          <a:ln w="12700">
            <a:solidFill>
              <a:srgbClr val="1A9464"/>
            </a:solidFill>
            <a:prstDash val="solid"/>
          </a:ln>
        </p:spPr>
      </p:sp>
      <p:sp>
        <p:nvSpPr>
          <p:cNvPr id="28" name="Text 26"/>
          <p:cNvSpPr/>
          <p:nvPr/>
        </p:nvSpPr>
        <p:spPr>
          <a:xfrm>
            <a:off x="960120" y="3456432"/>
            <a:ext cx="7772400" cy="237744"/>
          </a:xfrm>
          <a:prstGeom prst="rect">
            <a:avLst/>
          </a:prstGeom>
          <a:noFill/>
          <a:ln/>
        </p:spPr>
        <p:txBody>
          <a:bodyPr wrap="square" lIns="0" tIns="63500" rIns="63500" bIns="0" rtlCol="0" anchor="ctr"/>
          <a:lstStyle/>
          <a:p>
            <a:pPr marL="0" indent="0">
              <a:buNone/>
            </a:pPr>
            <a:r>
              <a:rPr lang="en-US" sz="1000" b="1" dirty="0">
                <a:solidFill>
                  <a:srgbClr val="FFFFFF"/>
                </a:solidFill>
              </a:rPr>
              <a:t>Anestesia general vs. sedación</a:t>
            </a:r>
            <a:endParaRPr lang="en-US" sz="1000" dirty="0"/>
          </a:p>
        </p:txBody>
      </p:sp>
      <p:sp>
        <p:nvSpPr>
          <p:cNvPr id="29" name="Text 27"/>
          <p:cNvSpPr/>
          <p:nvPr/>
        </p:nvSpPr>
        <p:spPr>
          <a:xfrm>
            <a:off x="960120" y="3712464"/>
            <a:ext cx="7772400" cy="530352"/>
          </a:xfrm>
          <a:prstGeom prst="rect">
            <a:avLst/>
          </a:prstGeom>
          <a:noFill/>
          <a:ln/>
        </p:spPr>
        <p:txBody>
          <a:bodyPr wrap="square" lIns="0" tIns="63500" rIns="63500" bIns="0" rtlCol="0" anchor="t"/>
          <a:lstStyle/>
          <a:p>
            <a:pPr marL="0" indent="0">
              <a:buNone/>
            </a:pPr>
            <a:r>
              <a:rPr lang="en-US" sz="950" i="1" dirty="0">
                <a:solidFill>
                  <a:srgbClr val="1C2833"/>
                </a:solidFill>
              </a:rPr>
              <a:t>"Either general anesthesia or procedural sedation are recommended to facilitate EVT."</a:t>
            </a:r>
            <a:endParaRPr lang="en-US" sz="950" dirty="0"/>
          </a:p>
        </p:txBody>
      </p:sp>
      <p:sp>
        <p:nvSpPr>
          <p:cNvPr id="30" name="Text 28"/>
          <p:cNvSpPr/>
          <p:nvPr/>
        </p:nvSpPr>
        <p:spPr>
          <a:xfrm>
            <a:off x="960120" y="4251960"/>
            <a:ext cx="7772400" cy="384048"/>
          </a:xfrm>
          <a:prstGeom prst="rect">
            <a:avLst/>
          </a:prstGeom>
          <a:noFill/>
          <a:ln/>
        </p:spPr>
        <p:txBody>
          <a:bodyPr wrap="square" lIns="0" tIns="63500" rIns="63500" bIns="0" rtlCol="0" anchor="t"/>
          <a:lstStyle/>
          <a:p>
            <a:pPr marL="0" indent="0">
              <a:buNone/>
            </a:pPr>
            <a:r>
              <a:rPr lang="en-US" sz="850" dirty="0">
                <a:solidFill>
                  <a:srgbClr val="4A5568"/>
                </a:solidFill>
              </a:rPr>
              <a:t>AMETIS (n=273) + DIRECT-MT subgrupo (n=636) + RCT Dinamarca (n=128): outcomes comparables. Ambas aceptables.</a:t>
            </a:r>
            <a:endParaRPr lang="en-US" sz="850" dirty="0"/>
          </a:p>
        </p:txBody>
      </p:sp>
      <p:sp>
        <p:nvSpPr>
          <p:cNvPr id="31" name="Shape 29"/>
          <p:cNvSpPr/>
          <p:nvPr/>
        </p:nvSpPr>
        <p:spPr>
          <a:xfrm>
            <a:off x="0" y="4892040"/>
            <a:ext cx="9144000" cy="251460"/>
          </a:xfrm>
          <a:prstGeom prst="rect">
            <a:avLst/>
          </a:prstGeom>
          <a:solidFill>
            <a:srgbClr val="136475"/>
          </a:solidFill>
          <a:ln w="12700">
            <a:solidFill>
              <a:srgbClr val="136475"/>
            </a:solidFill>
            <a:prstDash val="solid"/>
          </a:ln>
        </p:spPr>
      </p:sp>
      <p:sp>
        <p:nvSpPr>
          <p:cNvPr id="32" name="Text 30"/>
          <p:cNvSpPr/>
          <p:nvPr/>
        </p:nvSpPr>
        <p:spPr>
          <a:xfrm>
            <a:off x="274320" y="4892040"/>
            <a:ext cx="5486400" cy="251460"/>
          </a:xfrm>
          <a:prstGeom prst="rect">
            <a:avLst/>
          </a:prstGeom>
          <a:noFill/>
          <a:ln/>
        </p:spPr>
        <p:txBody>
          <a:bodyPr wrap="square" lIns="0" tIns="0" rIns="0" bIns="0" rtlCol="0" anchor="ctr"/>
          <a:lstStyle/>
          <a:p>
            <a:pPr marL="0" indent="0">
              <a:buNone/>
            </a:pPr>
            <a:r>
              <a:rPr lang="en-US" sz="800" i="1" dirty="0">
                <a:solidFill>
                  <a:srgbClr val="FFFFFF"/>
                </a:solidFill>
              </a:rPr>
              <a:t>Guía AHA Stroke 2026</a:t>
            </a:r>
            <a:endParaRPr lang="en-US" sz="800" dirty="0"/>
          </a:p>
        </p:txBody>
      </p:sp>
      <p:sp>
        <p:nvSpPr>
          <p:cNvPr id="33" name="Text 31"/>
          <p:cNvSpPr/>
          <p:nvPr/>
        </p:nvSpPr>
        <p:spPr>
          <a:xfrm>
            <a:off x="6858000" y="4892040"/>
            <a:ext cx="2011680" cy="251460"/>
          </a:xfrm>
          <a:prstGeom prst="rect">
            <a:avLst/>
          </a:prstGeom>
          <a:noFill/>
          <a:ln/>
        </p:spPr>
        <p:txBody>
          <a:bodyPr wrap="square" lIns="0" tIns="0" rIns="0" bIns="0" rtlCol="0" anchor="ctr"/>
          <a:lstStyle/>
          <a:p>
            <a:pPr marL="0" indent="0" algn="r">
              <a:buNone/>
            </a:pPr>
            <a:r>
              <a:rPr lang="en-US" sz="800" b="1" dirty="0">
                <a:solidFill>
                  <a:srgbClr val="FFFFFF"/>
                </a:solidFill>
              </a:rPr>
              <a:t>Hospital Posadas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FA0"/>
          </a:solidFill>
          <a:ln w="12700">
            <a:solidFill>
              <a:srgbClr val="1E8FA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800" b="1" dirty="0">
                <a:solidFill>
                  <a:srgbClr val="FFFFFF"/>
                </a:solidFill>
              </a:rPr>
              <a:t>Comparación 2019 → 2026 en trombectomía mecánica</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82880" y="749808"/>
          <a:ext cx="8778240" cy="3749040"/>
        </p:xfrm>
        <a:graphic>
          <a:graphicData uri="http://schemas.openxmlformats.org/drawingml/2006/table">
            <a:tbl>
              <a:tblPr/>
              <a:tblGrid>
                <a:gridCol w="20574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886200">
                  <a:extLst>
                    <a:ext uri="{9D8B030D-6E8A-4147-A177-3AD203B41FA5}">
                      <a16:colId xmlns:a16="http://schemas.microsoft.com/office/drawing/2014/main" val="20003"/>
                    </a:ext>
                  </a:extLst>
                </a:gridCol>
              </a:tblGrid>
              <a:tr h="29260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Escenario</a:t>
                      </a:r>
                      <a:endParaRPr lang="en-US" sz="9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13647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COR/LOE 2019</a:t>
                      </a:r>
                      <a:endParaRPr lang="en-US" sz="9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C039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COR/LOE 2026</a:t>
                      </a:r>
                      <a:endParaRPr lang="en-US" sz="9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1A9464"/>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Δ Cambio</a:t>
                      </a:r>
                      <a:endParaRPr lang="en-US" sz="90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solidFill>
                      <a:srgbClr val="136475"/>
                    </a:solidFill>
                  </a:tcPr>
                </a:tc>
                <a:extLst>
                  <a:ext uri="{0D108BD9-81ED-4DB2-BD59-A6C34878D82A}">
                    <a16:rowId xmlns:a16="http://schemas.microsoft.com/office/drawing/2014/main" val="10000"/>
                  </a:ext>
                </a:extLst>
              </a:tr>
              <a:tr h="384048">
                <a:tc>
                  <a:txBody>
                    <a:bodyPr/>
                    <a:lstStyle/>
                    <a:p>
                      <a:pPr marL="0" indent="0" algn="l">
                        <a:buNone/>
                      </a:pPr>
                      <a:r>
                        <a:rPr lang="en-US" sz="850" dirty="0">
                          <a:solidFill>
                            <a:srgbClr val="1C2833"/>
                          </a:solidFill>
                          <a:latin typeface="Calibri" pitchFamily="34" charset="0"/>
                          <a:ea typeface="Calibri" pitchFamily="34" charset="-122"/>
                          <a:cs typeface="Calibri" pitchFamily="34" charset="-120"/>
                        </a:rPr>
                        <a:t>0–6h, ASPECTS 3–10</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dirty="0">
                          <a:solidFill>
                            <a:srgbClr val="1C2833"/>
                          </a:solidFill>
                          <a:latin typeface="Calibri" pitchFamily="34" charset="0"/>
                          <a:ea typeface="Calibri" pitchFamily="34" charset="-122"/>
                          <a:cs typeface="Calibri" pitchFamily="34" charset="-120"/>
                        </a:rPr>
                        <a:t>1/A (solo ASPECTS 6–10)</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b="1" dirty="0">
                          <a:solidFill>
                            <a:srgbClr val="1A9464"/>
                          </a:solidFill>
                          <a:latin typeface="Calibri" pitchFamily="34" charset="0"/>
                          <a:ea typeface="Calibri" pitchFamily="34" charset="-122"/>
                          <a:cs typeface="Calibri" pitchFamily="34" charset="-120"/>
                        </a:rPr>
                        <a:t>1 / A</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l">
                        <a:buNone/>
                      </a:pPr>
                      <a:r>
                        <a:rPr lang="en-US" sz="850" dirty="0">
                          <a:solidFill>
                            <a:srgbClr val="136475"/>
                          </a:solidFill>
                          <a:latin typeface="Calibri" pitchFamily="34" charset="0"/>
                          <a:ea typeface="Calibri" pitchFamily="34" charset="-122"/>
                          <a:cs typeface="Calibri" pitchFamily="34" charset="-120"/>
                        </a:rPr>
                        <a:t>↑ Umbral ASPECTS: 3→10 incluido</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850" dirty="0">
                          <a:solidFill>
                            <a:srgbClr val="1C2833"/>
                          </a:solidFill>
                          <a:latin typeface="Calibri" pitchFamily="34" charset="0"/>
                          <a:ea typeface="Calibri" pitchFamily="34" charset="-122"/>
                          <a:cs typeface="Calibri" pitchFamily="34" charset="-120"/>
                        </a:rPr>
                        <a:t>6–24h, ASPECTS ≥6</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dirty="0">
                          <a:solidFill>
                            <a:srgbClr val="1C2833"/>
                          </a:solidFill>
                          <a:latin typeface="Calibri" pitchFamily="34" charset="0"/>
                          <a:ea typeface="Calibri" pitchFamily="34" charset="-122"/>
                          <a:cs typeface="Calibri" pitchFamily="34" charset="-120"/>
                        </a:rPr>
                        <a:t>1/A (requería perfusión)</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b="1" dirty="0">
                          <a:solidFill>
                            <a:srgbClr val="1A9464"/>
                          </a:solidFill>
                          <a:latin typeface="Calibri" pitchFamily="34" charset="0"/>
                          <a:ea typeface="Calibri" pitchFamily="34" charset="-122"/>
                          <a:cs typeface="Calibri" pitchFamily="34" charset="-120"/>
                        </a:rPr>
                        <a:t>1 / A</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l">
                        <a:buNone/>
                      </a:pPr>
                      <a:r>
                        <a:rPr lang="en-US" sz="850" dirty="0">
                          <a:solidFill>
                            <a:srgbClr val="136475"/>
                          </a:solidFill>
                          <a:latin typeface="Calibri" pitchFamily="34" charset="0"/>
                          <a:ea typeface="Calibri" pitchFamily="34" charset="-122"/>
                          <a:cs typeface="Calibri" pitchFamily="34" charset="-120"/>
                        </a:rPr>
                        <a:t>↓ Perfusión avanzada ya NO obligatoria</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850" b="1" dirty="0">
                          <a:solidFill>
                            <a:srgbClr val="1C2833"/>
                          </a:solidFill>
                          <a:latin typeface="Calibri" pitchFamily="34" charset="0"/>
                          <a:ea typeface="Calibri" pitchFamily="34" charset="-122"/>
                          <a:cs typeface="Calibri" pitchFamily="34" charset="-120"/>
                        </a:rPr>
                        <a:t>6–24h, ASPECTS 3–5</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i="1" dirty="0">
                          <a:solidFill>
                            <a:srgbClr val="718096"/>
                          </a:solidFill>
                          <a:latin typeface="Calibri" pitchFamily="34" charset="0"/>
                          <a:ea typeface="Calibri" pitchFamily="34" charset="-122"/>
                          <a:cs typeface="Calibri" pitchFamily="34" charset="-120"/>
                        </a:rPr>
                        <a:t>No existía</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b="1" dirty="0">
                          <a:solidFill>
                            <a:srgbClr val="1A9464"/>
                          </a:solidFill>
                          <a:latin typeface="Calibri" pitchFamily="34" charset="0"/>
                          <a:ea typeface="Calibri" pitchFamily="34" charset="-122"/>
                          <a:cs typeface="Calibri" pitchFamily="34" charset="-120"/>
                        </a:rPr>
                        <a:t>1 / A ★</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l">
                        <a:buNone/>
                      </a:pPr>
                      <a:r>
                        <a:rPr lang="en-US" sz="850" b="1" dirty="0">
                          <a:solidFill>
                            <a:srgbClr val="1A9464"/>
                          </a:solidFill>
                          <a:latin typeface="Calibri" pitchFamily="34" charset="0"/>
                          <a:ea typeface="Calibri" pitchFamily="34" charset="-122"/>
                          <a:cs typeface="Calibri" pitchFamily="34" charset="-120"/>
                        </a:rPr>
                        <a:t>🆕 Nuevo — ANGEL-ASPECTS, SELECT2</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850" b="1" dirty="0">
                          <a:solidFill>
                            <a:srgbClr val="1C2833"/>
                          </a:solidFill>
                          <a:latin typeface="Calibri" pitchFamily="34" charset="0"/>
                          <a:ea typeface="Calibri" pitchFamily="34" charset="-122"/>
                          <a:cs typeface="Calibri" pitchFamily="34" charset="-120"/>
                        </a:rPr>
                        <a:t>0–6h, ASPECTS 0–2</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i="1" dirty="0">
                          <a:solidFill>
                            <a:srgbClr val="718096"/>
                          </a:solidFill>
                          <a:latin typeface="Calibri" pitchFamily="34" charset="0"/>
                          <a:ea typeface="Calibri" pitchFamily="34" charset="-122"/>
                          <a:cs typeface="Calibri" pitchFamily="34" charset="-120"/>
                        </a:rPr>
                        <a:t>No existía</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b="1" dirty="0">
                          <a:solidFill>
                            <a:srgbClr val="2980B9"/>
                          </a:solidFill>
                          <a:latin typeface="Calibri" pitchFamily="34" charset="0"/>
                          <a:ea typeface="Calibri" pitchFamily="34" charset="-122"/>
                          <a:cs typeface="Calibri" pitchFamily="34" charset="-120"/>
                        </a:rPr>
                        <a:t>2a / B-R ★</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l">
                        <a:buNone/>
                      </a:pPr>
                      <a:r>
                        <a:rPr lang="en-US" sz="850" b="1" dirty="0">
                          <a:solidFill>
                            <a:srgbClr val="2980B9"/>
                          </a:solidFill>
                          <a:latin typeface="Calibri" pitchFamily="34" charset="0"/>
                          <a:ea typeface="Calibri" pitchFamily="34" charset="-122"/>
                          <a:cs typeface="Calibri" pitchFamily="34" charset="-120"/>
                        </a:rPr>
                        <a:t>🆕 Nuevo — LASTE trial</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850" b="1" dirty="0">
                          <a:solidFill>
                            <a:srgbClr val="1C2833"/>
                          </a:solidFill>
                          <a:latin typeface="Calibri" pitchFamily="34" charset="0"/>
                          <a:ea typeface="Calibri" pitchFamily="34" charset="-122"/>
                          <a:cs typeface="Calibri" pitchFamily="34" charset="-120"/>
                        </a:rPr>
                        <a:t>mRS previo 2</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i="1" dirty="0">
                          <a:solidFill>
                            <a:srgbClr val="718096"/>
                          </a:solidFill>
                          <a:latin typeface="Calibri" pitchFamily="34" charset="0"/>
                          <a:ea typeface="Calibri" pitchFamily="34" charset="-122"/>
                          <a:cs typeface="Calibri" pitchFamily="34" charset="-120"/>
                        </a:rPr>
                        <a:t>No existía</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b="1" dirty="0">
                          <a:solidFill>
                            <a:srgbClr val="2980B9"/>
                          </a:solidFill>
                          <a:latin typeface="Calibri" pitchFamily="34" charset="0"/>
                          <a:ea typeface="Calibri" pitchFamily="34" charset="-122"/>
                          <a:cs typeface="Calibri" pitchFamily="34" charset="-120"/>
                        </a:rPr>
                        <a:t>2a / B-NR ★</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l">
                        <a:buNone/>
                      </a:pPr>
                      <a:r>
                        <a:rPr lang="en-US" sz="850" b="1" dirty="0">
                          <a:solidFill>
                            <a:srgbClr val="2980B9"/>
                          </a:solidFill>
                          <a:latin typeface="Calibri" pitchFamily="34" charset="0"/>
                          <a:ea typeface="Calibri" pitchFamily="34" charset="-122"/>
                          <a:cs typeface="Calibri" pitchFamily="34" charset="-120"/>
                        </a:rPr>
                        <a:t>🆕 Nuevo — objetivo: reduce discapacidad acumulada</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l">
                        <a:buNone/>
                      </a:pPr>
                      <a:r>
                        <a:rPr lang="en-US" sz="850" b="1" dirty="0">
                          <a:solidFill>
                            <a:srgbClr val="1C2833"/>
                          </a:solidFill>
                          <a:latin typeface="Calibri" pitchFamily="34" charset="0"/>
                          <a:ea typeface="Calibri" pitchFamily="34" charset="-122"/>
                          <a:cs typeface="Calibri" pitchFamily="34" charset="-120"/>
                        </a:rPr>
                        <a:t>mRS previo 3–4</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i="1" dirty="0">
                          <a:solidFill>
                            <a:srgbClr val="718096"/>
                          </a:solidFill>
                          <a:latin typeface="Calibri" pitchFamily="34" charset="0"/>
                          <a:ea typeface="Calibri" pitchFamily="34" charset="-122"/>
                          <a:cs typeface="Calibri" pitchFamily="34" charset="-120"/>
                        </a:rPr>
                        <a:t>No existía</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b="1" dirty="0">
                          <a:solidFill>
                            <a:srgbClr val="E67E22"/>
                          </a:solidFill>
                          <a:latin typeface="Calibri" pitchFamily="34" charset="0"/>
                          <a:ea typeface="Calibri" pitchFamily="34" charset="-122"/>
                          <a:cs typeface="Calibri" pitchFamily="34" charset="-120"/>
                        </a:rPr>
                        <a:t>2b / B-NR ★</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l">
                        <a:buNone/>
                      </a:pPr>
                      <a:r>
                        <a:rPr lang="en-US" sz="850" b="1" dirty="0">
                          <a:solidFill>
                            <a:srgbClr val="E67E22"/>
                          </a:solidFill>
                          <a:latin typeface="Calibri" pitchFamily="34" charset="0"/>
                          <a:ea typeface="Calibri" pitchFamily="34" charset="-122"/>
                          <a:cs typeface="Calibri" pitchFamily="34" charset="-120"/>
                        </a:rPr>
                        <a:t>🆕 Nuevo — 32% retornan a mRS previo</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l">
                        <a:buNone/>
                      </a:pPr>
                      <a:r>
                        <a:rPr lang="en-US" sz="850" b="1" dirty="0">
                          <a:solidFill>
                            <a:srgbClr val="1C2833"/>
                          </a:solidFill>
                          <a:latin typeface="Calibri" pitchFamily="34" charset="0"/>
                          <a:ea typeface="Calibri" pitchFamily="34" charset="-122"/>
                          <a:cs typeface="Calibri" pitchFamily="34" charset="-120"/>
                        </a:rPr>
                        <a:t>Basilar, NIHSS ≥10, 24h</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dirty="0">
                          <a:solidFill>
                            <a:srgbClr val="1C2833"/>
                          </a:solidFill>
                          <a:latin typeface="Calibri" pitchFamily="34" charset="0"/>
                          <a:ea typeface="Calibri" pitchFamily="34" charset="-122"/>
                          <a:cs typeface="Calibri" pitchFamily="34" charset="-120"/>
                        </a:rPr>
                        <a:t>2a / C-LD</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b="1" dirty="0">
                          <a:solidFill>
                            <a:srgbClr val="1A9464"/>
                          </a:solidFill>
                          <a:latin typeface="Calibri" pitchFamily="34" charset="0"/>
                          <a:ea typeface="Calibri" pitchFamily="34" charset="-122"/>
                          <a:cs typeface="Calibri" pitchFamily="34" charset="-120"/>
                        </a:rPr>
                        <a:t>1 / A ★</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l">
                        <a:buNone/>
                      </a:pPr>
                      <a:r>
                        <a:rPr lang="en-US" sz="850" b="1" dirty="0">
                          <a:solidFill>
                            <a:srgbClr val="1A9464"/>
                          </a:solidFill>
                          <a:latin typeface="Calibri" pitchFamily="34" charset="0"/>
                          <a:ea typeface="Calibri" pitchFamily="34" charset="-122"/>
                          <a:cs typeface="Calibri" pitchFamily="34" charset="-120"/>
                        </a:rPr>
                        <a:t>↑↑ Gran salto — ATTENTION + BAOCHE</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lgn="l">
                        <a:buNone/>
                      </a:pPr>
                      <a:r>
                        <a:rPr lang="en-US" sz="850" dirty="0">
                          <a:solidFill>
                            <a:srgbClr val="1C2833"/>
                          </a:solidFill>
                          <a:latin typeface="Calibri" pitchFamily="34" charset="0"/>
                          <a:ea typeface="Calibri" pitchFamily="34" charset="-122"/>
                          <a:cs typeface="Calibri" pitchFamily="34" charset="-120"/>
                        </a:rPr>
                        <a:t>M2 dominante proximal</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dirty="0">
                          <a:solidFill>
                            <a:srgbClr val="1C2833"/>
                          </a:solidFill>
                          <a:latin typeface="Calibri" pitchFamily="34" charset="0"/>
                          <a:ea typeface="Calibri" pitchFamily="34" charset="-122"/>
                          <a:cs typeface="Calibri" pitchFamily="34" charset="-120"/>
                        </a:rPr>
                        <a:t>2b / C-LD</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b="1" dirty="0">
                          <a:solidFill>
                            <a:srgbClr val="2980B9"/>
                          </a:solidFill>
                          <a:latin typeface="Calibri" pitchFamily="34" charset="0"/>
                          <a:ea typeface="Calibri" pitchFamily="34" charset="-122"/>
                          <a:cs typeface="Calibri" pitchFamily="34" charset="-120"/>
                        </a:rPr>
                        <a:t>2a / B-NR</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l">
                        <a:buNone/>
                      </a:pPr>
                      <a:r>
                        <a:rPr lang="en-US" sz="850" dirty="0">
                          <a:solidFill>
                            <a:srgbClr val="136475"/>
                          </a:solidFill>
                          <a:latin typeface="Calibri" pitchFamily="34" charset="0"/>
                          <a:ea typeface="Calibri" pitchFamily="34" charset="-122"/>
                          <a:cs typeface="Calibri" pitchFamily="34" charset="-120"/>
                        </a:rPr>
                        <a:t>↑ Evidencia más robusta</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lgn="l">
                        <a:buNone/>
                      </a:pPr>
                      <a:r>
                        <a:rPr lang="en-US" sz="850" dirty="0">
                          <a:solidFill>
                            <a:srgbClr val="C0392B"/>
                          </a:solidFill>
                          <a:latin typeface="Calibri" pitchFamily="34" charset="0"/>
                          <a:ea typeface="Calibri" pitchFamily="34" charset="-122"/>
                          <a:cs typeface="Calibri" pitchFamily="34" charset="-120"/>
                        </a:rPr>
                        <a:t>M2 no dominante / distal / ACA / ACP</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i="1" dirty="0">
                          <a:solidFill>
                            <a:srgbClr val="718096"/>
                          </a:solidFill>
                          <a:latin typeface="Calibri" pitchFamily="34" charset="0"/>
                          <a:ea typeface="Calibri" pitchFamily="34" charset="-122"/>
                          <a:cs typeface="Calibri" pitchFamily="34" charset="-120"/>
                        </a:rPr>
                        <a:t>Incierto</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3 / A</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tc>
                  <a:txBody>
                    <a:bodyPr/>
                    <a:lstStyle/>
                    <a:p>
                      <a:pPr marL="0" indent="0" algn="l">
                        <a:buNone/>
                      </a:pPr>
                      <a:r>
                        <a:rPr lang="en-US" sz="850" dirty="0">
                          <a:solidFill>
                            <a:srgbClr val="C0392B"/>
                          </a:solidFill>
                          <a:latin typeface="Calibri" pitchFamily="34" charset="0"/>
                          <a:ea typeface="Calibri" pitchFamily="34" charset="-122"/>
                          <a:cs typeface="Calibri" pitchFamily="34" charset="-120"/>
                        </a:rPr>
                        <a:t>Cierre del debate — ESCAPE-MeVO + DISTAL</a:t>
                      </a:r>
                      <a:endParaRPr lang="en-US" sz="850" dirty="0">
                        <a:latin typeface="Calibri" charset="0"/>
                        <a:ea typeface="Calibri" charset="0"/>
                        <a:cs typeface="Calibri" charset="0"/>
                      </a:endParaRPr>
                    </a:p>
                  </a:txBody>
                  <a:tcPr anchor="ctr">
                    <a:lnL w="6350" cap="flat" cmpd="sng" algn="ctr">
                      <a:solidFill>
                        <a:srgbClr val="C5DCE3"/>
                      </a:solidFill>
                      <a:prstDash val="solid"/>
                      <a:round/>
                      <a:headEnd type="none" w="med" len="med"/>
                      <a:tailEnd type="none" w="med" len="med"/>
                    </a:lnL>
                    <a:lnR w="6350" cap="flat" cmpd="sng" algn="ctr">
                      <a:solidFill>
                        <a:srgbClr val="C5DCE3"/>
                      </a:solidFill>
                      <a:prstDash val="solid"/>
                      <a:round/>
                      <a:headEnd type="none" w="med" len="med"/>
                      <a:tailEnd type="none" w="med" len="med"/>
                    </a:lnR>
                    <a:lnT w="6350" cap="flat" cmpd="sng" algn="ctr">
                      <a:solidFill>
                        <a:srgbClr val="C5DCE3"/>
                      </a:solidFill>
                      <a:prstDash val="solid"/>
                      <a:round/>
                      <a:headEnd type="none" w="med" len="med"/>
                      <a:tailEnd type="none" w="med" len="med"/>
                    </a:lnT>
                    <a:lnB w="6350" cap="flat" cmpd="sng" algn="ctr">
                      <a:solidFill>
                        <a:srgbClr val="C5DCE3"/>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Shape 2"/>
          <p:cNvSpPr/>
          <p:nvPr/>
        </p:nvSpPr>
        <p:spPr>
          <a:xfrm>
            <a:off x="0" y="4892040"/>
            <a:ext cx="9144000" cy="251460"/>
          </a:xfrm>
          <a:prstGeom prst="rect">
            <a:avLst/>
          </a:prstGeom>
          <a:solidFill>
            <a:srgbClr val="136475"/>
          </a:solidFill>
          <a:ln w="12700">
            <a:solidFill>
              <a:srgbClr val="136475"/>
            </a:solidFill>
            <a:prstDash val="solid"/>
          </a:ln>
        </p:spPr>
      </p:sp>
      <p:sp>
        <p:nvSpPr>
          <p:cNvPr id="6" name="Text 3"/>
          <p:cNvSpPr/>
          <p:nvPr/>
        </p:nvSpPr>
        <p:spPr>
          <a:xfrm>
            <a:off x="274320" y="4892040"/>
            <a:ext cx="5486400" cy="251460"/>
          </a:xfrm>
          <a:prstGeom prst="rect">
            <a:avLst/>
          </a:prstGeom>
          <a:noFill/>
          <a:ln/>
        </p:spPr>
        <p:txBody>
          <a:bodyPr wrap="square" lIns="0" tIns="0" rIns="0" bIns="0" rtlCol="0" anchor="ctr"/>
          <a:lstStyle/>
          <a:p>
            <a:pPr marL="0" indent="0">
              <a:buNone/>
            </a:pPr>
            <a:r>
              <a:rPr lang="en-US" sz="800" i="1" dirty="0">
                <a:solidFill>
                  <a:srgbClr val="FFFFFF"/>
                </a:solidFill>
              </a:rPr>
              <a:t>Guía AHA Stroke 2026</a:t>
            </a:r>
            <a:endParaRPr lang="en-US" sz="800" dirty="0"/>
          </a:p>
        </p:txBody>
      </p:sp>
      <p:sp>
        <p:nvSpPr>
          <p:cNvPr id="7" name="Text 4"/>
          <p:cNvSpPr/>
          <p:nvPr/>
        </p:nvSpPr>
        <p:spPr>
          <a:xfrm>
            <a:off x="6858000" y="4892040"/>
            <a:ext cx="2011680" cy="251460"/>
          </a:xfrm>
          <a:prstGeom prst="rect">
            <a:avLst/>
          </a:prstGeom>
          <a:noFill/>
          <a:ln/>
        </p:spPr>
        <p:txBody>
          <a:bodyPr wrap="square" lIns="0" tIns="0" rIns="0" bIns="0" rtlCol="0" anchor="ctr"/>
          <a:lstStyle/>
          <a:p>
            <a:pPr marL="0" indent="0" algn="r">
              <a:buNone/>
            </a:pPr>
            <a:r>
              <a:rPr lang="en-US" sz="800" b="1" dirty="0">
                <a:solidFill>
                  <a:srgbClr val="FFFFFF"/>
                </a:solidFill>
              </a:rPr>
              <a:t>Hospital Posadas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F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FA0"/>
          </a:solidFill>
          <a:ln w="12700">
            <a:solidFill>
              <a:srgbClr val="1E8FA0"/>
            </a:solidFill>
            <a:prstDash val="solid"/>
          </a:ln>
        </p:spPr>
      </p:sp>
      <p:sp>
        <p:nvSpPr>
          <p:cNvPr id="3" name="Text 1"/>
          <p:cNvSpPr/>
          <p:nvPr/>
        </p:nvSpPr>
        <p:spPr>
          <a:xfrm>
            <a:off x="457200" y="365760"/>
            <a:ext cx="8229600" cy="502920"/>
          </a:xfrm>
          <a:prstGeom prst="rect">
            <a:avLst/>
          </a:prstGeom>
          <a:noFill/>
          <a:ln/>
        </p:spPr>
        <p:txBody>
          <a:bodyPr wrap="square" lIns="0" tIns="0" rIns="0" bIns="0" rtlCol="0" anchor="ctr"/>
          <a:lstStyle/>
          <a:p>
            <a:pPr marL="0" indent="0">
              <a:buNone/>
            </a:pPr>
            <a:r>
              <a:rPr lang="en-US" sz="2200" b="1" dirty="0">
                <a:solidFill>
                  <a:srgbClr val="FFFFFF"/>
                </a:solidFill>
              </a:rPr>
              <a:t>Mensaje clave para la práctica</a:t>
            </a:r>
            <a:endParaRPr lang="en-US" sz="2200" dirty="0"/>
          </a:p>
        </p:txBody>
      </p:sp>
      <p:sp>
        <p:nvSpPr>
          <p:cNvPr id="4" name="Shape 2"/>
          <p:cNvSpPr/>
          <p:nvPr/>
        </p:nvSpPr>
        <p:spPr>
          <a:xfrm>
            <a:off x="457200" y="896112"/>
            <a:ext cx="8229600" cy="36576"/>
          </a:xfrm>
          <a:prstGeom prst="rect">
            <a:avLst/>
          </a:prstGeom>
          <a:solidFill>
            <a:srgbClr val="1E8FA0"/>
          </a:solidFill>
          <a:ln w="12700">
            <a:solidFill>
              <a:srgbClr val="1E8FA0"/>
            </a:solidFill>
            <a:prstDash val="solid"/>
          </a:ln>
        </p:spPr>
      </p:sp>
      <p:sp>
        <p:nvSpPr>
          <p:cNvPr id="5" name="Shape 3"/>
          <p:cNvSpPr/>
          <p:nvPr/>
        </p:nvSpPr>
        <p:spPr>
          <a:xfrm>
            <a:off x="457200" y="1051560"/>
            <a:ext cx="420624" cy="420624"/>
          </a:xfrm>
          <a:prstGeom prst="rect">
            <a:avLst/>
          </a:prstGeom>
          <a:solidFill>
            <a:srgbClr val="1E8FA0"/>
          </a:solidFill>
          <a:ln w="12700">
            <a:solidFill>
              <a:srgbClr val="1E8FA0"/>
            </a:solidFill>
            <a:prstDash val="solid"/>
          </a:ln>
        </p:spPr>
      </p:sp>
      <p:sp>
        <p:nvSpPr>
          <p:cNvPr id="6" name="Text 4"/>
          <p:cNvSpPr/>
          <p:nvPr/>
        </p:nvSpPr>
        <p:spPr>
          <a:xfrm>
            <a:off x="457200" y="1051560"/>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7" name="Text 5"/>
          <p:cNvSpPr/>
          <p:nvPr/>
        </p:nvSpPr>
        <p:spPr>
          <a:xfrm>
            <a:off x="1005840" y="1060704"/>
            <a:ext cx="7680960" cy="420624"/>
          </a:xfrm>
          <a:prstGeom prst="rect">
            <a:avLst/>
          </a:prstGeom>
          <a:noFill/>
          <a:ln/>
        </p:spPr>
        <p:txBody>
          <a:bodyPr wrap="square" lIns="0" tIns="0" rIns="0" bIns="0" rtlCol="0" anchor="ctr"/>
          <a:lstStyle/>
          <a:p>
            <a:pPr marL="0" indent="0">
              <a:buNone/>
            </a:pPr>
            <a:r>
              <a:rPr lang="en-US" sz="1100" dirty="0">
                <a:solidFill>
                  <a:srgbClr val="D4E8EF"/>
                </a:solidFill>
              </a:rPr>
              <a:t>La AHA 2026 amplía la población candidata: ya no solo el paciente "perfecto" (ASPECTS alto, sin discapacidad, en ventana estrecha)</a:t>
            </a:r>
            <a:endParaRPr lang="en-US" sz="1100" dirty="0"/>
          </a:p>
        </p:txBody>
      </p:sp>
      <p:sp>
        <p:nvSpPr>
          <p:cNvPr id="8" name="Shape 6"/>
          <p:cNvSpPr/>
          <p:nvPr/>
        </p:nvSpPr>
        <p:spPr>
          <a:xfrm>
            <a:off x="457200" y="1764792"/>
            <a:ext cx="420624" cy="420624"/>
          </a:xfrm>
          <a:prstGeom prst="rect">
            <a:avLst/>
          </a:prstGeom>
          <a:solidFill>
            <a:srgbClr val="1E8FA0"/>
          </a:solidFill>
          <a:ln w="12700">
            <a:solidFill>
              <a:srgbClr val="1E8FA0"/>
            </a:solidFill>
            <a:prstDash val="solid"/>
          </a:ln>
        </p:spPr>
      </p:sp>
      <p:sp>
        <p:nvSpPr>
          <p:cNvPr id="9" name="Text 7"/>
          <p:cNvSpPr/>
          <p:nvPr/>
        </p:nvSpPr>
        <p:spPr>
          <a:xfrm>
            <a:off x="457200" y="1764792"/>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0" name="Text 8"/>
          <p:cNvSpPr/>
          <p:nvPr/>
        </p:nvSpPr>
        <p:spPr>
          <a:xfrm>
            <a:off x="1005840" y="1773936"/>
            <a:ext cx="7680960" cy="420624"/>
          </a:xfrm>
          <a:prstGeom prst="rect">
            <a:avLst/>
          </a:prstGeom>
          <a:noFill/>
          <a:ln/>
        </p:spPr>
        <p:txBody>
          <a:bodyPr wrap="square" lIns="0" tIns="0" rIns="0" bIns="0" rtlCol="0" anchor="ctr"/>
          <a:lstStyle/>
          <a:p>
            <a:pPr marL="0" indent="0">
              <a:buNone/>
            </a:pPr>
            <a:r>
              <a:rPr lang="en-US" sz="1100" dirty="0">
                <a:solidFill>
                  <a:srgbClr val="D4E8EF"/>
                </a:solidFill>
              </a:rPr>
              <a:t>TC simple + ASPECTS + clínica + ausencia de efecto de masa = herramientas principales de selección. La perfusión avanzada sigue siendo útil, no mandatoria</a:t>
            </a:r>
            <a:endParaRPr lang="en-US" sz="1100" dirty="0"/>
          </a:p>
        </p:txBody>
      </p:sp>
      <p:sp>
        <p:nvSpPr>
          <p:cNvPr id="11" name="Shape 9"/>
          <p:cNvSpPr/>
          <p:nvPr/>
        </p:nvSpPr>
        <p:spPr>
          <a:xfrm>
            <a:off x="457200" y="2478024"/>
            <a:ext cx="420624" cy="420624"/>
          </a:xfrm>
          <a:prstGeom prst="rect">
            <a:avLst/>
          </a:prstGeom>
          <a:solidFill>
            <a:srgbClr val="1E8FA0"/>
          </a:solidFill>
          <a:ln w="12700">
            <a:solidFill>
              <a:srgbClr val="1E8FA0"/>
            </a:solidFill>
            <a:prstDash val="solid"/>
          </a:ln>
        </p:spPr>
      </p:sp>
      <p:sp>
        <p:nvSpPr>
          <p:cNvPr id="12" name="Text 10"/>
          <p:cNvSpPr/>
          <p:nvPr/>
        </p:nvSpPr>
        <p:spPr>
          <a:xfrm>
            <a:off x="457200" y="2478024"/>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13" name="Text 11"/>
          <p:cNvSpPr/>
          <p:nvPr/>
        </p:nvSpPr>
        <p:spPr>
          <a:xfrm>
            <a:off x="1005840" y="2487168"/>
            <a:ext cx="7680960" cy="420624"/>
          </a:xfrm>
          <a:prstGeom prst="rect">
            <a:avLst/>
          </a:prstGeom>
          <a:noFill/>
          <a:ln/>
        </p:spPr>
        <p:txBody>
          <a:bodyPr wrap="square" lIns="0" tIns="0" rIns="0" bIns="0" rtlCol="0" anchor="ctr"/>
          <a:lstStyle/>
          <a:p>
            <a:pPr marL="0" indent="0">
              <a:buNone/>
            </a:pPr>
            <a:r>
              <a:rPr lang="en-US" sz="1100" dirty="0">
                <a:solidFill>
                  <a:srgbClr val="D4E8EF"/>
                </a:solidFill>
              </a:rPr>
              <a:t>Large core (ASPECTS 3–5) en ventana 6–24h: COR 1/A. El core en TC no equivale siempre a tejido irreversiblemente perdido</a:t>
            </a:r>
            <a:endParaRPr lang="en-US" sz="1100" dirty="0"/>
          </a:p>
        </p:txBody>
      </p:sp>
      <p:sp>
        <p:nvSpPr>
          <p:cNvPr id="14" name="Shape 12"/>
          <p:cNvSpPr/>
          <p:nvPr/>
        </p:nvSpPr>
        <p:spPr>
          <a:xfrm>
            <a:off x="457200" y="3191256"/>
            <a:ext cx="420624" cy="420624"/>
          </a:xfrm>
          <a:prstGeom prst="rect">
            <a:avLst/>
          </a:prstGeom>
          <a:solidFill>
            <a:srgbClr val="1E8FA0"/>
          </a:solidFill>
          <a:ln w="12700">
            <a:solidFill>
              <a:srgbClr val="1E8FA0"/>
            </a:solidFill>
            <a:prstDash val="solid"/>
          </a:ln>
        </p:spPr>
      </p:sp>
      <p:sp>
        <p:nvSpPr>
          <p:cNvPr id="15" name="Text 13"/>
          <p:cNvSpPr/>
          <p:nvPr/>
        </p:nvSpPr>
        <p:spPr>
          <a:xfrm>
            <a:off x="457200" y="3191256"/>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16" name="Text 14"/>
          <p:cNvSpPr/>
          <p:nvPr/>
        </p:nvSpPr>
        <p:spPr>
          <a:xfrm>
            <a:off x="1005840" y="3200400"/>
            <a:ext cx="7680960" cy="420624"/>
          </a:xfrm>
          <a:prstGeom prst="rect">
            <a:avLst/>
          </a:prstGeom>
          <a:noFill/>
          <a:ln/>
        </p:spPr>
        <p:txBody>
          <a:bodyPr wrap="square" lIns="0" tIns="0" rIns="0" bIns="0" rtlCol="0" anchor="ctr"/>
          <a:lstStyle/>
          <a:p>
            <a:pPr marL="0" indent="0">
              <a:buNone/>
            </a:pPr>
            <a:r>
              <a:rPr lang="en-US" sz="1100" dirty="0">
                <a:solidFill>
                  <a:srgbClr val="D4E8EF"/>
                </a:solidFill>
              </a:rPr>
              <a:t>Discapacidad previa: el objetivo cambió. Ya no es solo "independencia funcional" sino reducir la discapacidad adicional generada por el ACV</a:t>
            </a:r>
            <a:endParaRPr lang="en-US" sz="1100" dirty="0"/>
          </a:p>
        </p:txBody>
      </p:sp>
      <p:sp>
        <p:nvSpPr>
          <p:cNvPr id="17" name="Shape 15"/>
          <p:cNvSpPr/>
          <p:nvPr/>
        </p:nvSpPr>
        <p:spPr>
          <a:xfrm>
            <a:off x="457200" y="3904488"/>
            <a:ext cx="420624" cy="420624"/>
          </a:xfrm>
          <a:prstGeom prst="rect">
            <a:avLst/>
          </a:prstGeom>
          <a:solidFill>
            <a:srgbClr val="1E8FA0"/>
          </a:solidFill>
          <a:ln w="12700">
            <a:solidFill>
              <a:srgbClr val="1E8FA0"/>
            </a:solidFill>
            <a:prstDash val="solid"/>
          </a:ln>
        </p:spPr>
      </p:sp>
      <p:sp>
        <p:nvSpPr>
          <p:cNvPr id="18" name="Text 16"/>
          <p:cNvSpPr/>
          <p:nvPr/>
        </p:nvSpPr>
        <p:spPr>
          <a:xfrm>
            <a:off x="457200" y="3904488"/>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19" name="Text 17"/>
          <p:cNvSpPr/>
          <p:nvPr/>
        </p:nvSpPr>
        <p:spPr>
          <a:xfrm>
            <a:off x="1005840" y="3913632"/>
            <a:ext cx="7680960" cy="420624"/>
          </a:xfrm>
          <a:prstGeom prst="rect">
            <a:avLst/>
          </a:prstGeom>
          <a:noFill/>
          <a:ln/>
        </p:spPr>
        <p:txBody>
          <a:bodyPr wrap="square" lIns="0" tIns="0" rIns="0" bIns="0" rtlCol="0" anchor="ctr"/>
          <a:lstStyle/>
          <a:p>
            <a:pPr marL="0" indent="0">
              <a:buNone/>
            </a:pPr>
            <a:r>
              <a:rPr lang="en-US" sz="1100" dirty="0">
                <a:solidFill>
                  <a:srgbClr val="D4E8EF"/>
                </a:solidFill>
              </a:rPr>
              <a:t>Oclusión basilar + NIHSS ≥10: COR 1/A hasta 24h. ATTENTION y BAOCHE consolidan la evidencia</a:t>
            </a:r>
            <a:endParaRPr lang="en-US" sz="1100" dirty="0"/>
          </a:p>
        </p:txBody>
      </p:sp>
      <p:sp>
        <p:nvSpPr>
          <p:cNvPr id="20" name="Shape 18"/>
          <p:cNvSpPr/>
          <p:nvPr/>
        </p:nvSpPr>
        <p:spPr>
          <a:xfrm>
            <a:off x="0" y="4754880"/>
            <a:ext cx="9144000" cy="388620"/>
          </a:xfrm>
          <a:prstGeom prst="rect">
            <a:avLst/>
          </a:prstGeom>
          <a:solidFill>
            <a:srgbClr val="136475"/>
          </a:solidFill>
          <a:ln w="12700">
            <a:solidFill>
              <a:srgbClr val="136475"/>
            </a:solidFill>
            <a:prstDash val="solid"/>
          </a:ln>
        </p:spPr>
      </p:sp>
      <p:sp>
        <p:nvSpPr>
          <p:cNvPr id="21" name="Text 19"/>
          <p:cNvSpPr/>
          <p:nvPr/>
        </p:nvSpPr>
        <p:spPr>
          <a:xfrm>
            <a:off x="274320" y="4754880"/>
            <a:ext cx="7315200" cy="388620"/>
          </a:xfrm>
          <a:prstGeom prst="rect">
            <a:avLst/>
          </a:prstGeom>
          <a:noFill/>
          <a:ln/>
        </p:spPr>
        <p:txBody>
          <a:bodyPr wrap="square" lIns="0" tIns="0" rIns="0" bIns="0" rtlCol="0" anchor="ctr"/>
          <a:lstStyle/>
          <a:p>
            <a:pPr marL="0" indent="0">
              <a:buNone/>
            </a:pPr>
            <a:r>
              <a:rPr lang="en-US" sz="800" i="1" dirty="0">
                <a:solidFill>
                  <a:srgbClr val="A0C8D8"/>
                </a:solidFill>
              </a:rPr>
              <a:t>Prabhakaran S. et al. 2026 AHA/ASA Guideline for the Early Management of Patients with AIS. Stroke. 2026;57:e00–e00.</a:t>
            </a:r>
            <a:endParaRPr lang="en-US" sz="800" dirty="0"/>
          </a:p>
        </p:txBody>
      </p:sp>
      <p:sp>
        <p:nvSpPr>
          <p:cNvPr id="22" name="Text 20"/>
          <p:cNvSpPr/>
          <p:nvPr/>
        </p:nvSpPr>
        <p:spPr>
          <a:xfrm>
            <a:off x="7132320" y="4754880"/>
            <a:ext cx="1737360" cy="388620"/>
          </a:xfrm>
          <a:prstGeom prst="rect">
            <a:avLst/>
          </a:prstGeom>
          <a:noFill/>
          <a:ln/>
        </p:spPr>
        <p:txBody>
          <a:bodyPr wrap="square" lIns="0" tIns="0" rIns="0" bIns="0" rtlCol="0" anchor="ctr"/>
          <a:lstStyle/>
          <a:p>
            <a:pPr marL="0" indent="0" algn="r">
              <a:buNone/>
            </a:pPr>
            <a:r>
              <a:rPr lang="en-US" sz="900" b="1" dirty="0">
                <a:solidFill>
                  <a:srgbClr val="FFFFFF"/>
                </a:solidFill>
              </a:rPr>
              <a:t>Hospital Posadas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2329</Words>
  <Application>Microsoft Office PowerPoint</Application>
  <PresentationFormat>Presentación en pantalla (16:9)</PresentationFormat>
  <Paragraphs>258</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Trombectomía Mecánica AHA 2026</dc:title>
  <dc:subject>PptxGenJS Presentation</dc:subject>
  <dc:creator>PptxGenJS</dc:creator>
  <cp:lastModifiedBy>Julián Martín Alonso</cp:lastModifiedBy>
  <cp:revision>4</cp:revision>
  <dcterms:created xsi:type="dcterms:W3CDTF">2026-03-29T16:21:53Z</dcterms:created>
  <dcterms:modified xsi:type="dcterms:W3CDTF">2026-03-30T00:48:16Z</dcterms:modified>
</cp:coreProperties>
</file>